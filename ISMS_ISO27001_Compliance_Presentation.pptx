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Sir/Ma'am. My name is Kaswan Sangeeta Bhimsingh (Roll No 17). Under the guidance of Prof. Harsh Barot, I am presenting our enterprise ISO/IEC 27001:2022 Compliance Assessment SaaS Platform built using Laravel 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summarizes our 8-phase engineering journey, progressing from multi-tenant foundations and ISO 27001 assessment workflows to risk management, SoA generation, document control, analytics, and live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1, we established our single-database, shared-schema multi-tenant architecture. Using a Global TenantScope, every query automatically filters by the authenticated user's current_tenant_id.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implements the complete assessment lifecycle. Our ComplianceCalculator uses a weighted formula where Compliant equals 1.0, Partially Compliant equals 0.5, and Not Applicable controls are excluded from the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Phases 3 and 7, we built the Asset Register and the quantitative 5x5 Risk Register. Risk scores are automatically computed from Likelihood times Impact, and linked to four ISO treatment strategies: Mitigate, Accept, Transfer, and Avoid.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and Phase 5 address two mandatory audit artifacts required by external ISO 27001 auditors: the Statement of Applicability with JSON snapshot versioning, and the Document Management System with version control and control mapping.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6 and 7, we implemented our reporting engine using the Strategy Pattern. Six distinct report classes plug into a central ReportRegistry and export seamlessly to CSV, PDF, and Excel.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8, we overhauled the entire UI to match modern B2B SaaS platforms like Vanta and Drata, enforced strict AssetPolicy and RiskPolicy authorization so Viewers get a 403 on write actions, and deployed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actual screenshots from our live build: the split-screen dark mode login interface on the left, and the Executive Dashboard with real-time Chart.js visualizations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Control Assessment interface where assessors set compliance status and maturity levels across all 115 controls. On the right is the Risk Register featuring automated Likelihood times Impact scoring.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screenshots highlight our Statement of Applicability matrix with approval badges and version comparison, alongside our Document Management System tracking policy versions and review states.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demonstrate three critical Phase 6 and Phase 8 deliverables: the 6-report Bento Grid export center, the custom 403 Access Denied page blocking unauthorized Viewer mutations, and mobile responsiveness.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assurance was enforced at every phase handoff. Our test suite grew from 29 tests in Phase 1 to 71 passing tests and 169 assertions by Phase 7, verifying tenant isolation, scoring math, and exports.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and Phase 8 polishing, we diagnosed and fixed several critical engineering bugs, including nested HTML form deletion issues, TenantScope column checks, and route name collisions.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to Phase 9, our strict Service-Repository-DTO architecture makes exposing a full Laravel Sanctum REST API, visual audit trail UI, and automated cloud evidence integrations effortless.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Sir/Ma'am. The platform is live at ismsaudit.infinityfree.io and all 71 automated tests are passing. I am now ready for your questions and a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focus_card"/>
          <p:cNvSpPr/>
          <p:nvPr/>
        </p:nvSpPr>
        <p:spPr>
          <a:xfrm>
            <a:off x="502920" y="475488"/>
            <a:ext cx="11185855" cy="5257800"/>
          </a:xfrm>
          <a:prstGeom prst="roundRect">
            <a:avLst>
              <a:gd name="adj" fmla="val 4000"/>
            </a:avLst>
          </a:prstGeom>
          <a:solidFill>
            <a:srgbClr val="161F33"/>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unit_badge"/>
          <p:cNvSpPr/>
          <p:nvPr/>
        </p:nvSpPr>
        <p:spPr>
          <a:xfrm>
            <a:off x="822960" y="749808"/>
            <a:ext cx="6949440" cy="384048"/>
          </a:xfrm>
          <a:prstGeom prst="roundRect">
            <a:avLst>
              <a:gd name="adj" fmla="val 4000"/>
            </a:avLst>
          </a:prstGeom>
          <a:solidFill>
            <a:srgbClr val="1E293B"/>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95528"/>
            <a:ext cx="6858000" cy="292608"/>
          </a:xfrm>
          <a:prstGeom prst="rect">
            <a:avLst/>
          </a:prstGeom>
          <a:noFill/>
        </p:spPr>
        <p:txBody>
          <a:bodyPr wrap="square" lIns="45720" rIns="45720" tIns="27432" bIns="27432">
            <a:spAutoFit/>
          </a:bodyPr>
          <a:lstStyle/>
          <a:p>
            <a:pPr algn="ctr">
              <a:defRPr sz="1019" b="1">
                <a:solidFill>
                  <a:srgbClr val="F59E0B"/>
                </a:solidFill>
                <a:latin typeface="Segoe UI"/>
              </a:defRPr>
            </a:pPr>
            <a:r>
              <a:t>Information Security Management System Audit</a:t>
            </a:r>
          </a:p>
        </p:txBody>
      </p:sp>
      <p:sp>
        <p:nvSpPr>
          <p:cNvPr id="5" name="!!slide_title"/>
          <p:cNvSpPr txBox="1"/>
          <p:nvPr/>
        </p:nvSpPr>
        <p:spPr>
          <a:xfrm>
            <a:off x="822960" y="1261872"/>
            <a:ext cx="7132320" cy="530352"/>
          </a:xfrm>
          <a:prstGeom prst="rect">
            <a:avLst/>
          </a:prstGeom>
          <a:noFill/>
        </p:spPr>
        <p:txBody>
          <a:bodyPr wrap="square" lIns="45720" rIns="45720" tIns="27432" bIns="27432">
            <a:spAutoFit/>
          </a:bodyPr>
          <a:lstStyle/>
          <a:p>
            <a:pPr algn="l">
              <a:defRPr sz="3000" b="1">
                <a:solidFill>
                  <a:srgbClr val="F8FAFC"/>
                </a:solidFill>
                <a:latin typeface="Segoe UI"/>
              </a:defRPr>
            </a:pPr>
            <a:r>
              <a:t>ISO/IEC 27001:2022 COMPLIANCE</a:t>
            </a:r>
          </a:p>
        </p:txBody>
      </p:sp>
      <p:sp>
        <p:nvSpPr>
          <p:cNvPr id="6" name="TextBox 5"/>
          <p:cNvSpPr txBox="1"/>
          <p:nvPr/>
        </p:nvSpPr>
        <p:spPr>
          <a:xfrm>
            <a:off x="822960" y="1810512"/>
            <a:ext cx="7132320" cy="365760"/>
          </a:xfrm>
          <a:prstGeom prst="rect">
            <a:avLst/>
          </a:prstGeom>
          <a:noFill/>
        </p:spPr>
        <p:txBody>
          <a:bodyPr wrap="square" lIns="45720" rIns="45720" tIns="27432" bIns="27432">
            <a:spAutoFit/>
          </a:bodyPr>
          <a:lstStyle/>
          <a:p>
            <a:pPr algn="l">
              <a:defRPr sz="1650" b="1">
                <a:solidFill>
                  <a:srgbClr val="10B981"/>
                </a:solidFill>
                <a:latin typeface="Segoe UI"/>
              </a:defRPr>
            </a:pPr>
            <a:r>
              <a:t>Enterprise Multi-Tenant ISMS Assessment &amp; Risk SaaS Platform</a:t>
            </a:r>
          </a:p>
        </p:txBody>
      </p:sp>
      <p:sp>
        <p:nvSpPr>
          <p:cNvPr id="7" name="TextBox 6"/>
          <p:cNvSpPr txBox="1"/>
          <p:nvPr/>
        </p:nvSpPr>
        <p:spPr>
          <a:xfrm>
            <a:off x="822960" y="2240280"/>
            <a:ext cx="6949440" cy="658368"/>
          </a:xfrm>
          <a:prstGeom prst="rect">
            <a:avLst/>
          </a:prstGeom>
          <a:noFill/>
        </p:spPr>
        <p:txBody>
          <a:bodyPr wrap="square" lIns="45720" rIns="45720" tIns="27432" bIns="27432">
            <a:spAutoFit/>
          </a:bodyPr>
          <a:lstStyle/>
          <a:p>
            <a:pPr algn="l">
              <a:defRPr sz="1200" b="0">
                <a:solidFill>
                  <a:srgbClr val="94A3B8"/>
                </a:solidFill>
                <a:latin typeface="Segoe UI"/>
              </a:defRPr>
            </a:pPr>
            <a:r>
              <a:t>An 8-Phase Enterprise GRC Application Built on Laravel 11, Livewire 3 &amp; Tailwind CSS, Featuring 115 Seeded ISO Controls, 5x5 Risk Heatmap, Auto-SoA Versioning, and 71 Verified Automated Tests.</a:t>
            </a:r>
          </a:p>
        </p:txBody>
      </p:sp>
      <p:sp>
        <p:nvSpPr>
          <p:cNvPr id="8" name="Rounded Rectangle 7"/>
          <p:cNvSpPr/>
          <p:nvPr/>
        </p:nvSpPr>
        <p:spPr>
          <a:xfrm>
            <a:off x="8001000" y="749808"/>
            <a:ext cx="3383280" cy="2606040"/>
          </a:xfrm>
          <a:prstGeom prst="roundRect">
            <a:avLst>
              <a:gd name="adj" fmla="val 4000"/>
            </a:avLst>
          </a:prstGeom>
          <a:solidFill>
            <a:srgbClr val="0B0F19"/>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gress_pill"/>
          <p:cNvSpPr/>
          <p:nvPr/>
        </p:nvSpPr>
        <p:spPr>
          <a:xfrm>
            <a:off x="502920"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hero_3d_visual" descr="logo-icon.png"/>
          <p:cNvPicPr>
            <a:picLocks noChangeAspect="1"/>
          </p:cNvPicPr>
          <p:nvPr/>
        </p:nvPicPr>
        <p:blipFill>
          <a:blip r:embed="rId2"/>
          <a:stretch>
            <a:fillRect/>
          </a:stretch>
        </p:blipFill>
        <p:spPr>
          <a:xfrm>
            <a:off x="8732520" y="896112"/>
            <a:ext cx="1920240" cy="1920240"/>
          </a:xfrm>
          <a:prstGeom prst="rect">
            <a:avLst/>
          </a:prstGeom>
        </p:spPr>
      </p:pic>
      <p:sp>
        <p:nvSpPr>
          <p:cNvPr id="15" name="TextBox 14"/>
          <p:cNvSpPr txBox="1"/>
          <p:nvPr/>
        </p:nvSpPr>
        <p:spPr>
          <a:xfrm>
            <a:off x="8092440" y="2971800"/>
            <a:ext cx="3200400" cy="256032"/>
          </a:xfrm>
          <a:prstGeom prst="rect">
            <a:avLst/>
          </a:prstGeom>
          <a:noFill/>
        </p:spPr>
        <p:txBody>
          <a:bodyPr wrap="square" lIns="45720" rIns="45720" tIns="27432" bIns="27432">
            <a:spAutoFit/>
          </a:bodyPr>
          <a:lstStyle/>
          <a:p>
            <a:pPr algn="ctr">
              <a:defRPr sz="980" b="1">
                <a:solidFill>
                  <a:srgbClr val="06B6D4"/>
                </a:solidFill>
                <a:latin typeface="Segoe UI"/>
              </a:defRPr>
            </a:pPr>
            <a:r>
              <a:t>ISMS Audit Platform Brand Identity</a:t>
            </a:r>
          </a:p>
        </p:txBody>
      </p:sp>
      <p:sp>
        <p:nvSpPr>
          <p:cNvPr id="16" name="Rounded Rectangle 15"/>
          <p:cNvSpPr/>
          <p:nvPr/>
        </p:nvSpPr>
        <p:spPr>
          <a:xfrm>
            <a:off x="822960" y="3493008"/>
            <a:ext cx="10561320" cy="1965960"/>
          </a:xfrm>
          <a:prstGeom prst="roundRect">
            <a:avLst>
              <a:gd name="adj" fmla="val 4000"/>
            </a:avLst>
          </a:prstGeom>
          <a:solidFill>
            <a:srgbClr val="1E293B"/>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602736"/>
            <a:ext cx="10195560" cy="1783080"/>
          </a:xfrm>
          <a:prstGeom prst="rect">
            <a:avLst/>
          </a:prstGeom>
          <a:noFill/>
        </p:spPr>
        <p:txBody>
          <a:bodyPr wrap="square">
            <a:spAutoFit/>
          </a:bodyPr>
          <a:lstStyle/>
          <a:p>
            <a:pPr>
              <a:spcAft>
                <a:spcPts val="500"/>
              </a:spcAft>
            </a:pPr>
            <a:r>
              <a:rPr sz="1150" b="1">
                <a:solidFill>
                  <a:srgbClr val="10B981"/>
                </a:solidFill>
                <a:latin typeface="Segoe UI"/>
              </a:rPr>
              <a:t>Student Name &amp; Roll No: </a:t>
            </a:r>
            <a:r>
              <a:rPr sz="1150" b="0">
                <a:solidFill>
                  <a:srgbClr val="F8FAFC"/>
                </a:solidFill>
                <a:latin typeface="Segoe UI"/>
              </a:rPr>
              <a:t>Kaswan Sangeeta Bhimsingh   |   Roll Number: 17   |   Silver Oak College of Computer Application</a:t>
            </a:r>
          </a:p>
          <a:p>
            <a:pPr>
              <a:spcAft>
                <a:spcPts val="500"/>
              </a:spcAft>
            </a:pPr>
            <a:r>
              <a:rPr sz="1150" b="1">
                <a:solidFill>
                  <a:srgbClr val="F59E0B"/>
                </a:solidFill>
                <a:latin typeface="Segoe UI"/>
              </a:rPr>
              <a:t>Affiliated Institution: </a:t>
            </a:r>
            <a:r>
              <a:rPr sz="1150" b="0">
                <a:solidFill>
                  <a:srgbClr val="F8FAFC"/>
                </a:solidFill>
                <a:latin typeface="Segoe UI"/>
              </a:rPr>
              <a:t>Silver Oak College of Computer Application   |   Gujarat, India</a:t>
            </a:r>
          </a:p>
          <a:p>
            <a:pPr>
              <a:spcAft>
                <a:spcPts val="500"/>
              </a:spcAft>
            </a:pPr>
            <a:r>
              <a:rPr sz="1150" b="1">
                <a:solidFill>
                  <a:srgbClr val="10B981"/>
                </a:solidFill>
                <a:latin typeface="Segoe UI"/>
              </a:rPr>
              <a:t>Project Guide &amp; Date: </a:t>
            </a:r>
            <a:r>
              <a:rPr sz="1150" b="0">
                <a:solidFill>
                  <a:srgbClr val="F8FAFC"/>
                </a:solidFill>
                <a:latin typeface="Segoe UI"/>
              </a:rPr>
              <a:t>Prof. Harsh Barot   |   Submission Date: 29-10-2026</a:t>
            </a:r>
          </a:p>
          <a:p>
            <a:pPr>
              <a:spcAft>
                <a:spcPts val="500"/>
              </a:spcAft>
            </a:pPr>
            <a:r>
              <a:rPr sz="1150" b="1">
                <a:solidFill>
                  <a:srgbClr val="06B6D4"/>
                </a:solidFill>
                <a:latin typeface="Segoe UI"/>
              </a:rPr>
              <a:t>Live Production &amp; GitHub: </a:t>
            </a:r>
            <a:r>
              <a:rPr sz="1150" b="0">
                <a:solidFill>
                  <a:srgbClr val="F8FAFC"/>
                </a:solidFill>
                <a:latin typeface="Segoe UI"/>
              </a:rPr>
              <a:t>https://ismsaudit.infinityfree.io   |   https://github.com/sangeetakaswan-dev/isms-tool</a:t>
            </a:r>
          </a:p>
          <a:p>
            <a:pPr>
              <a:spcAft>
                <a:spcPts val="500"/>
              </a:spcAft>
            </a:pPr>
            <a:r>
              <a:rPr sz="1150" b="1">
                <a:solidFill>
                  <a:srgbClr val="8B95F6"/>
                </a:solidFill>
                <a:latin typeface="Segoe UI"/>
              </a:rPr>
              <a:t>Enterprise Tech Stack: </a:t>
            </a:r>
            <a:r>
              <a:rPr sz="1150" b="0">
                <a:solidFill>
                  <a:srgbClr val="F8FAFC"/>
                </a:solidFill>
                <a:latin typeface="Segoe UI"/>
              </a:rPr>
              <a:t>Laravel 11.x  •  PHP 8.2+  •  MySQL 8.0  •  Livewire 3  •  Tailwind CSS  •  Chart.js 4  •  DomPDF &amp; Maatwebsite Excel</a:t>
            </a:r>
          </a:p>
        </p:txBody>
      </p:sp>
      <p:sp>
        <p:nvSpPr>
          <p:cNvPr id="18" name="Rounded Rectangle 17"/>
          <p:cNvSpPr/>
          <p:nvPr/>
        </p:nvSpPr>
        <p:spPr>
          <a:xfrm>
            <a:off x="502920" y="5852160"/>
            <a:ext cx="11185855" cy="438912"/>
          </a:xfrm>
          <a:prstGeom prst="roundRect">
            <a:avLst>
              <a:gd name="adj" fmla="val 4000"/>
            </a:avLst>
          </a:prstGeom>
          <a:solidFill>
            <a:srgbClr val="1E293B"/>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5925312"/>
            <a:ext cx="10972800" cy="274320"/>
          </a:xfrm>
          <a:prstGeom prst="rect">
            <a:avLst/>
          </a:prstGeom>
          <a:noFill/>
        </p:spPr>
        <p:txBody>
          <a:bodyPr wrap="square" lIns="45720" rIns="45720" tIns="27432" bIns="27432">
            <a:spAutoFit/>
          </a:bodyPr>
          <a:lstStyle/>
          <a:p>
            <a:pPr algn="ctr">
              <a:defRPr sz="919" b="1">
                <a:solidFill>
                  <a:srgbClr val="10B981"/>
                </a:solidFill>
                <a:latin typeface="Segoe UI"/>
              </a:defRPr>
            </a:pPr>
            <a:r>
              <a:t>ARCHITECTURE:  [P1: Multi-Tenancy] • [P2: Assessment Engine] • [P3/P7: 5x5 Risk &amp; Treatments] • [P4: SoA Engine] • [P5: Document DMS] • [P6: Analytics] • [P8: UI &amp; Security]</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6366F1"/>
                </a:solidFill>
                <a:latin typeface="Segoe UI"/>
              </a:defRPr>
            </a:pPr>
            <a:r>
              <a:t>PROJECT ROADMAP</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8-Phase Agile Engineering &amp; Deliverables Matrix</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Structured Multi-Phase Execution from Multi-Tenant Core to Live Production Deployment</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1194816"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228600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347472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475488" y="1097280"/>
            <a:ext cx="11237976" cy="4315968"/>
          </a:xfrm>
          <a:prstGeom prst="roundRect">
            <a:avLst>
              <a:gd name="adj" fmla="val 4000"/>
            </a:avLst>
          </a:prstGeom>
          <a:solidFill>
            <a:srgbClr val="161F33"/>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133856"/>
          <a:ext cx="11185855" cy="4242816"/>
        </p:xfrm>
        <a:graphic>
          <a:graphicData uri="http://schemas.openxmlformats.org/drawingml/2006/table">
            <a:tbl>
              <a:tblPr firstRow="1" bandRow="1">
                <a:tableStyleId>{5C22544A-7EE6-4342-B048-85BDC9FD1C3A}</a:tableStyleId>
              </a:tblPr>
              <a:tblGrid>
                <a:gridCol w="2057400"/>
                <a:gridCol w="2240280"/>
                <a:gridCol w="4785055"/>
                <a:gridCol w="2103120"/>
              </a:tblGrid>
              <a:tr h="848563">
                <a:tc>
                  <a:txBody>
                    <a:bodyPr/>
                    <a:lstStyle/>
                    <a:p>
                      <a:pPr algn="l">
                        <a:defRPr sz="1010" b="1">
                          <a:solidFill>
                            <a:srgbClr val="F59E0B"/>
                          </a:solidFill>
                          <a:latin typeface="Segoe UI"/>
                        </a:defRPr>
                      </a:pPr>
                      <a:r>
                        <a:t>Development Phases</a:t>
                      </a:r>
                    </a:p>
                  </a:txBody>
                  <a:tcPr anchor="ctr">
                    <a:solidFill>
                      <a:srgbClr val="1E293B"/>
                    </a:solidFill>
                  </a:tcPr>
                </a:tc>
                <a:tc>
                  <a:txBody>
                    <a:bodyPr/>
                    <a:lstStyle/>
                    <a:p>
                      <a:pPr algn="l">
                        <a:defRPr sz="1010" b="1">
                          <a:solidFill>
                            <a:srgbClr val="F59E0B"/>
                          </a:solidFill>
                          <a:latin typeface="Segoe UI"/>
                        </a:defRPr>
                      </a:pPr>
                      <a:r>
                        <a:t>Core Engineering Objective</a:t>
                      </a:r>
                    </a:p>
                  </a:txBody>
                  <a:tcPr anchor="ctr">
                    <a:solidFill>
                      <a:srgbClr val="1E293B"/>
                    </a:solidFill>
                  </a:tcPr>
                </a:tc>
                <a:tc>
                  <a:txBody>
                    <a:bodyPr/>
                    <a:lstStyle/>
                    <a:p>
                      <a:pPr algn="ctr">
                        <a:defRPr sz="1010" b="1">
                          <a:solidFill>
                            <a:srgbClr val="F59E0B"/>
                          </a:solidFill>
                          <a:latin typeface="Segoe UI"/>
                        </a:defRPr>
                      </a:pPr>
                      <a:r>
                        <a:t>Key Technical Modules Implemented</a:t>
                      </a:r>
                    </a:p>
                  </a:txBody>
                  <a:tcPr anchor="ctr">
                    <a:solidFill>
                      <a:srgbClr val="1E293B"/>
                    </a:solidFill>
                  </a:tcPr>
                </a:tc>
                <a:tc>
                  <a:txBody>
                    <a:bodyPr/>
                    <a:lstStyle/>
                    <a:p>
                      <a:pPr algn="ctr">
                        <a:defRPr sz="1010" b="1">
                          <a:solidFill>
                            <a:srgbClr val="F59E0B"/>
                          </a:solidFill>
                          <a:latin typeface="Segoe UI"/>
                        </a:defRPr>
                      </a:pPr>
                      <a:r>
                        <a:t>Verified Deliverables &amp; Tests</a:t>
                      </a:r>
                    </a:p>
                  </a:txBody>
                  <a:tcPr anchor="ctr">
                    <a:solidFill>
                      <a:srgbClr val="1E293B"/>
                    </a:solidFill>
                  </a:tcPr>
                </a:tc>
              </a:tr>
              <a:tr h="848563">
                <a:tc>
                  <a:txBody>
                    <a:bodyPr/>
                    <a:lstStyle/>
                    <a:p>
                      <a:pPr algn="l">
                        <a:defRPr sz="960" b="1">
                          <a:solidFill>
                            <a:srgbClr val="10B981"/>
                          </a:solidFill>
                          <a:latin typeface="Segoe UI"/>
                        </a:defRPr>
                      </a:pPr>
                      <a:r>
                        <a:t>PHASE 1 &amp; PHASE 2:</a:t>
                      </a:r>
                    </a:p>
                    <a:p>
                      <a:pPr algn="l">
                        <a:defRPr sz="960" b="0">
                          <a:solidFill>
                            <a:srgbClr val="F8FAFC"/>
                          </a:solidFill>
                          <a:latin typeface="Segoe UI"/>
                        </a:defRPr>
                      </a:pPr>
                      <a:r>
                        <a:t>Multi-Tenancy Core &amp;</a:t>
                      </a:r>
                    </a:p>
                    <a:p>
                      <a:pPr algn="l">
                        <a:defRPr sz="960" b="0">
                          <a:solidFill>
                            <a:srgbClr val="F8FAFC"/>
                          </a:solidFill>
                          <a:latin typeface="Segoe UI"/>
                        </a:defRPr>
                      </a:pPr>
                      <a:r>
                        <a:t>Assessment Engine</a:t>
                      </a:r>
                    </a:p>
                  </a:txBody>
                  <a:tcPr anchor="ctr">
                    <a:solidFill>
                      <a:srgbClr val="161F33"/>
                    </a:solidFill>
                  </a:tcPr>
                </a:tc>
                <a:tc>
                  <a:txBody>
                    <a:bodyPr/>
                    <a:lstStyle/>
                    <a:p>
                      <a:pPr algn="l">
                        <a:defRPr sz="960" b="0">
                          <a:solidFill>
                            <a:srgbClr val="F8FAFC"/>
                          </a:solidFill>
                          <a:latin typeface="Segoe UI"/>
                        </a:defRPr>
                      </a:pPr>
                      <a:r>
                        <a:t>Establish tenant-isolated architecture, ISO 27001 library, and assessment lifecycle.</a:t>
                      </a:r>
                    </a:p>
                  </a:txBody>
                  <a:tcPr anchor="ctr">
                    <a:solidFill>
                      <a:srgbClr val="161F33"/>
                    </a:solidFill>
                  </a:tcPr>
                </a:tc>
                <a:tc>
                  <a:txBody>
                    <a:bodyPr/>
                    <a:lstStyle/>
                    <a:p>
                      <a:pPr algn="l">
                        <a:defRPr sz="960" b="0">
                          <a:solidFill>
                            <a:srgbClr val="F8FAFC"/>
                          </a:solidFill>
                          <a:latin typeface="Segoe UI"/>
                        </a:defRPr>
                      </a:pPr>
                      <a:r>
                        <a:t>• Single-DB multi-tenancy via TenantScope &amp; tenant_user RBAC pivot</a:t>
                      </a:r>
                    </a:p>
                    <a:p>
                      <a:pPr algn="ctr">
                        <a:defRPr sz="960" b="0">
                          <a:solidFill>
                            <a:srgbClr val="F8FAFC"/>
                          </a:solidFill>
                          <a:latin typeface="Segoe UI"/>
                        </a:defRPr>
                      </a:pPr>
                      <a:r>
                        <a:t>• Seeded 11 Domains &amp; 115 Controls (Main Clauses 4–10 + 93 Annex A)</a:t>
                      </a:r>
                    </a:p>
                    <a:p>
                      <a:pPr algn="ctr">
                        <a:defRPr sz="960" b="0">
                          <a:solidFill>
                            <a:srgbClr val="F8FAFC"/>
                          </a:solidFill>
                          <a:latin typeface="Segoe UI"/>
                        </a:defRPr>
                      </a:pPr>
                      <a:r>
                        <a:t>• Assessment CRUD, team assignment &amp; 0–5 Maturity scoring</a:t>
                      </a:r>
                    </a:p>
                    <a:p>
                      <a:pPr algn="ctr">
                        <a:defRPr sz="960" b="0">
                          <a:solidFill>
                            <a:srgbClr val="F8FAFC"/>
                          </a:solidFill>
                          <a:latin typeface="Segoe UI"/>
                        </a:defRPr>
                      </a:pPr>
                      <a:r>
                        <a:t>• Weighted ComplianceCalculator (Partial compliance = 50% weight)</a:t>
                      </a:r>
                    </a:p>
                  </a:txBody>
                  <a:tcPr anchor="ctr">
                    <a:solidFill>
                      <a:srgbClr val="161F33"/>
                    </a:solidFill>
                  </a:tcPr>
                </a:tc>
                <a:tc>
                  <a:txBody>
                    <a:bodyPr/>
                    <a:lstStyle/>
                    <a:p>
                      <a:pPr algn="l">
                        <a:defRPr sz="960" b="0">
                          <a:solidFill>
                            <a:srgbClr val="06B6D4"/>
                          </a:solidFill>
                          <a:latin typeface="Segoe UI"/>
                        </a:defRPr>
                      </a:pPr>
                      <a:r>
                        <a:t>✔ 37/37 Tests Passing</a:t>
                      </a:r>
                    </a:p>
                    <a:p>
                      <a:pPr algn="ctr">
                        <a:defRPr sz="960" b="0">
                          <a:solidFill>
                            <a:srgbClr val="F8FAFC"/>
                          </a:solidFill>
                          <a:latin typeface="Segoe UI"/>
                        </a:defRPr>
                      </a:pPr>
                      <a:r>
                        <a:t>✔ 115 ISO Controls Seeded</a:t>
                      </a:r>
                    </a:p>
                    <a:p>
                      <a:pPr algn="ctr">
                        <a:defRPr sz="960" b="0">
                          <a:solidFill>
                            <a:srgbClr val="F8FAFC"/>
                          </a:solidFill>
                          <a:latin typeface="Segoe UI"/>
                        </a:defRPr>
                      </a:pPr>
                      <a:r>
                        <a:t>✔ Service-Repo-DTO Layer</a:t>
                      </a:r>
                    </a:p>
                    <a:p>
                      <a:pPr algn="ctr">
                        <a:defRPr sz="960" b="0">
                          <a:solidFill>
                            <a:srgbClr val="F8FAFC"/>
                          </a:solidFill>
                          <a:latin typeface="Segoe UI"/>
                        </a:defRPr>
                      </a:pPr>
                      <a:r>
                        <a:t>✔ Token Invitations</a:t>
                      </a:r>
                    </a:p>
                  </a:txBody>
                  <a:tcPr anchor="ctr">
                    <a:solidFill>
                      <a:srgbClr val="161F33"/>
                    </a:solidFill>
                  </a:tcPr>
                </a:tc>
              </a:tr>
              <a:tr h="848563">
                <a:tc>
                  <a:txBody>
                    <a:bodyPr/>
                    <a:lstStyle/>
                    <a:p>
                      <a:pPr algn="l">
                        <a:defRPr sz="960" b="1">
                          <a:solidFill>
                            <a:srgbClr val="10B981"/>
                          </a:solidFill>
                          <a:latin typeface="Segoe UI"/>
                        </a:defRPr>
                      </a:pPr>
                      <a:r>
                        <a:t>PHASE 3 &amp; PHASE 4:</a:t>
                      </a:r>
                    </a:p>
                    <a:p>
                      <a:pPr algn="l">
                        <a:defRPr sz="960" b="0">
                          <a:solidFill>
                            <a:srgbClr val="F8FAFC"/>
                          </a:solidFill>
                          <a:latin typeface="Segoe UI"/>
                        </a:defRPr>
                      </a:pPr>
                      <a:r>
                        <a:t>Asset Register, Risk &amp;</a:t>
                      </a:r>
                    </a:p>
                    <a:p>
                      <a:pPr algn="l">
                        <a:defRPr sz="960" b="0">
                          <a:solidFill>
                            <a:srgbClr val="F8FAFC"/>
                          </a:solidFill>
                          <a:latin typeface="Segoe UI"/>
                        </a:defRPr>
                      </a:pPr>
                      <a:r>
                        <a:t>Statement of Applicability</a:t>
                      </a:r>
                    </a:p>
                  </a:txBody>
                  <a:tcPr anchor="ctr">
                    <a:solidFill>
                      <a:srgbClr val="0B0F19"/>
                    </a:solidFill>
                  </a:tcPr>
                </a:tc>
                <a:tc>
                  <a:txBody>
                    <a:bodyPr/>
                    <a:lstStyle/>
                    <a:p>
                      <a:pPr algn="l">
                        <a:defRPr sz="960" b="0">
                          <a:solidFill>
                            <a:srgbClr val="F8FAFC"/>
                          </a:solidFill>
                          <a:latin typeface="Segoe UI"/>
                        </a:defRPr>
                      </a:pPr>
                      <a:r>
                        <a:t>Quantify asset criticality, evaluate risks, and generate formal ISO 27001 SoA.</a:t>
                      </a:r>
                    </a:p>
                  </a:txBody>
                  <a:tcPr anchor="ctr">
                    <a:solidFill>
                      <a:srgbClr val="0B0F19"/>
                    </a:solidFill>
                  </a:tcPr>
                </a:tc>
                <a:tc>
                  <a:txBody>
                    <a:bodyPr/>
                    <a:lstStyle/>
                    <a:p>
                      <a:pPr algn="l">
                        <a:defRPr sz="960" b="0">
                          <a:solidFill>
                            <a:srgbClr val="F8FAFC"/>
                          </a:solidFill>
                          <a:latin typeface="Segoe UI"/>
                        </a:defRPr>
                      </a:pPr>
                      <a:r>
                        <a:t>• Information Asset Register with Confidentiality, Integrity, Availability (1–5)</a:t>
                      </a:r>
                    </a:p>
                    <a:p>
                      <a:pPr algn="ctr">
                        <a:defRPr sz="960" b="0">
                          <a:solidFill>
                            <a:srgbClr val="F8FAFC"/>
                          </a:solidFill>
                          <a:latin typeface="Segoe UI"/>
                        </a:defRPr>
                      </a:pPr>
                      <a:r>
                        <a:t>• Automated StatementOfApplicabilityService mapped from responses</a:t>
                      </a:r>
                    </a:p>
                    <a:p>
                      <a:pPr algn="ctr">
                        <a:defRPr sz="960" b="0">
                          <a:solidFill>
                            <a:srgbClr val="F8FAFC"/>
                          </a:solidFill>
                          <a:latin typeface="Segoe UI"/>
                        </a:defRPr>
                      </a:pPr>
                      <a:r>
                        <a:t>• Single &amp; Bulk SoA entry approval workflow with user/timestamp</a:t>
                      </a:r>
                    </a:p>
                    <a:p>
                      <a:pPr algn="ctr">
                        <a:defRPr sz="960" b="0">
                          <a:solidFill>
                            <a:srgbClr val="F8FAFC"/>
                          </a:solidFill>
                          <a:latin typeface="Segoe UI"/>
                        </a:defRPr>
                      </a:pPr>
                      <a:r>
                        <a:t>• JSON data_snapshot versioning (soa_versions) &amp; side-by-side comparison</a:t>
                      </a:r>
                    </a:p>
                  </a:txBody>
                  <a:tcPr anchor="ctr">
                    <a:solidFill>
                      <a:srgbClr val="0B0F19"/>
                    </a:solidFill>
                  </a:tcPr>
                </a:tc>
                <a:tc>
                  <a:txBody>
                    <a:bodyPr/>
                    <a:lstStyle/>
                    <a:p>
                      <a:pPr algn="l">
                        <a:defRPr sz="960" b="0">
                          <a:solidFill>
                            <a:srgbClr val="06B6D4"/>
                          </a:solidFill>
                          <a:latin typeface="Segoe UI"/>
                        </a:defRPr>
                      </a:pPr>
                      <a:r>
                        <a:t>✔ 54/54 Tests Passing</a:t>
                      </a:r>
                    </a:p>
                    <a:p>
                      <a:pPr algn="ctr">
                        <a:defRPr sz="960" b="0">
                          <a:solidFill>
                            <a:srgbClr val="F8FAFC"/>
                          </a:solidFill>
                          <a:latin typeface="Segoe UI"/>
                        </a:defRPr>
                      </a:pPr>
                      <a:r>
                        <a:t>✔ Auto-SoA Justification</a:t>
                      </a:r>
                    </a:p>
                    <a:p>
                      <a:pPr algn="ctr">
                        <a:defRPr sz="960" b="0">
                          <a:solidFill>
                            <a:srgbClr val="F8FAFC"/>
                          </a:solidFill>
                          <a:latin typeface="Segoe UI"/>
                        </a:defRPr>
                      </a:pPr>
                      <a:r>
                        <a:t>✔ Version Diff Engine</a:t>
                      </a:r>
                    </a:p>
                    <a:p>
                      <a:pPr algn="ctr">
                        <a:defRPr sz="960" b="0">
                          <a:solidFill>
                            <a:srgbClr val="F8FAFC"/>
                          </a:solidFill>
                          <a:latin typeface="Segoe UI"/>
                        </a:defRPr>
                      </a:pPr>
                      <a:r>
                        <a:t>✔ SoA PDF/Excel Exports</a:t>
                      </a:r>
                    </a:p>
                  </a:txBody>
                  <a:tcPr anchor="ctr">
                    <a:solidFill>
                      <a:srgbClr val="0B0F19"/>
                    </a:solidFill>
                  </a:tcPr>
                </a:tc>
              </a:tr>
              <a:tr h="848563">
                <a:tc>
                  <a:txBody>
                    <a:bodyPr/>
                    <a:lstStyle/>
                    <a:p>
                      <a:pPr algn="l">
                        <a:defRPr sz="960" b="1">
                          <a:solidFill>
                            <a:srgbClr val="10B981"/>
                          </a:solidFill>
                          <a:latin typeface="Segoe UI"/>
                        </a:defRPr>
                      </a:pPr>
                      <a:r>
                        <a:t>PHASE 5 &amp; PHASE 6:</a:t>
                      </a:r>
                    </a:p>
                    <a:p>
                      <a:pPr algn="l">
                        <a:defRPr sz="960" b="0">
                          <a:solidFill>
                            <a:srgbClr val="F8FAFC"/>
                          </a:solidFill>
                          <a:latin typeface="Segoe UI"/>
                        </a:defRPr>
                      </a:pPr>
                      <a:r>
                        <a:t>Document DMS &amp;</a:t>
                      </a:r>
                    </a:p>
                    <a:p>
                      <a:pPr algn="l">
                        <a:defRPr sz="960" b="0">
                          <a:solidFill>
                            <a:srgbClr val="F8FAFC"/>
                          </a:solidFill>
                          <a:latin typeface="Segoe UI"/>
                        </a:defRPr>
                      </a:pPr>
                      <a:r>
                        <a:t>Reporting Analytics</a:t>
                      </a:r>
                    </a:p>
                  </a:txBody>
                  <a:tcPr anchor="ctr">
                    <a:solidFill>
                      <a:srgbClr val="161F33"/>
                    </a:solidFill>
                  </a:tcPr>
                </a:tc>
                <a:tc>
                  <a:txBody>
                    <a:bodyPr/>
                    <a:lstStyle/>
                    <a:p>
                      <a:pPr algn="l">
                        <a:defRPr sz="960" b="0">
                          <a:solidFill>
                            <a:srgbClr val="F8FAFC"/>
                          </a:solidFill>
                          <a:latin typeface="Segoe UI"/>
                        </a:defRPr>
                      </a:pPr>
                      <a:r>
                        <a:t>Manage versioned compliance policies and executive multi-format reporting.</a:t>
                      </a:r>
                    </a:p>
                  </a:txBody>
                  <a:tcPr anchor="ctr">
                    <a:solidFill>
                      <a:srgbClr val="161F33"/>
                    </a:solidFill>
                  </a:tcPr>
                </a:tc>
                <a:tc>
                  <a:txBody>
                    <a:bodyPr/>
                    <a:lstStyle/>
                    <a:p>
                      <a:pPr algn="l">
                        <a:defRPr sz="960" b="0">
                          <a:solidFill>
                            <a:srgbClr val="F8FAFC"/>
                          </a:solidFill>
                          <a:latin typeface="Segoe UI"/>
                        </a:defRPr>
                      </a:pPr>
                      <a:r>
                        <a:t>• Document Management System (DMS) with v1.0 ➔ v1.1 version history</a:t>
                      </a:r>
                    </a:p>
                    <a:p>
                      <a:pPr algn="ctr">
                        <a:defRPr sz="960" b="0">
                          <a:solidFill>
                            <a:srgbClr val="F8FAFC"/>
                          </a:solidFill>
                          <a:latin typeface="Segoe UI"/>
                        </a:defRPr>
                      </a:pPr>
                      <a:r>
                        <a:t>• Multi-reviewer approval workflow &amp; document_control_map linking</a:t>
                      </a:r>
                    </a:p>
                    <a:p>
                      <a:pPr algn="ctr">
                        <a:defRPr sz="960" b="0">
                          <a:solidFill>
                            <a:srgbClr val="F8FAFC"/>
                          </a:solidFill>
                          <a:latin typeface="Segoe UI"/>
                        </a:defRPr>
                      </a:pPr>
                      <a:r>
                        <a:t>• Strategy Pattern ReportRegistry (6 Report Types) + CSV/PDF/XLSX exports</a:t>
                      </a:r>
                    </a:p>
                    <a:p>
                      <a:pPr algn="ctr">
                        <a:defRPr sz="960" b="0">
                          <a:solidFill>
                            <a:srgbClr val="F8FAFC"/>
                          </a:solidFill>
                          <a:latin typeface="Segoe UI"/>
                        </a:defRPr>
                      </a:pPr>
                      <a:r>
                        <a:t>• Daily report_snapshots table for 12-month historical compliance trend</a:t>
                      </a:r>
                    </a:p>
                  </a:txBody>
                  <a:tcPr anchor="ctr">
                    <a:solidFill>
                      <a:srgbClr val="161F33"/>
                    </a:solidFill>
                  </a:tcPr>
                </a:tc>
                <a:tc>
                  <a:txBody>
                    <a:bodyPr/>
                    <a:lstStyle/>
                    <a:p>
                      <a:pPr algn="l">
                        <a:defRPr sz="960" b="0">
                          <a:solidFill>
                            <a:srgbClr val="06B6D4"/>
                          </a:solidFill>
                          <a:latin typeface="Segoe UI"/>
                        </a:defRPr>
                      </a:pPr>
                      <a:r>
                        <a:t>✔ 63/63 Tests Passing</a:t>
                      </a:r>
                    </a:p>
                    <a:p>
                      <a:pPr algn="ctr">
                        <a:defRPr sz="960" b="0">
                          <a:solidFill>
                            <a:srgbClr val="F8FAFC"/>
                          </a:solidFill>
                          <a:latin typeface="Segoe UI"/>
                        </a:defRPr>
                      </a:pPr>
                      <a:r>
                        <a:t>✔ 6 Strategy Report Classes</a:t>
                      </a:r>
                    </a:p>
                    <a:p>
                      <a:pPr algn="ctr">
                        <a:defRPr sz="960" b="0">
                          <a:solidFill>
                            <a:srgbClr val="F8FAFC"/>
                          </a:solidFill>
                          <a:latin typeface="Segoe UI"/>
                        </a:defRPr>
                      </a:pPr>
                      <a:r>
                        <a:t>✔ 5 Chart.js Visualizations</a:t>
                      </a:r>
                    </a:p>
                    <a:p>
                      <a:pPr algn="ctr">
                        <a:defRPr sz="960" b="0">
                          <a:solidFill>
                            <a:srgbClr val="F8FAFC"/>
                          </a:solidFill>
                          <a:latin typeface="Segoe UI"/>
                        </a:defRPr>
                      </a:pPr>
                      <a:r>
                        <a:t>✔ Export Audit Trail</a:t>
                      </a:r>
                    </a:p>
                  </a:txBody>
                  <a:tcPr anchor="ctr">
                    <a:solidFill>
                      <a:srgbClr val="161F33"/>
                    </a:solidFill>
                  </a:tcPr>
                </a:tc>
              </a:tr>
              <a:tr h="848564">
                <a:tc>
                  <a:txBody>
                    <a:bodyPr/>
                    <a:lstStyle/>
                    <a:p>
                      <a:pPr algn="l">
                        <a:defRPr sz="960" b="1">
                          <a:solidFill>
                            <a:srgbClr val="10B981"/>
                          </a:solidFill>
                          <a:latin typeface="Segoe UI"/>
                        </a:defRPr>
                      </a:pPr>
                      <a:r>
                        <a:t>PHASE 7 &amp; PHASE 8:</a:t>
                      </a:r>
                    </a:p>
                    <a:p>
                      <a:pPr algn="l">
                        <a:defRPr sz="960" b="0">
                          <a:solidFill>
                            <a:srgbClr val="F8FAFC"/>
                          </a:solidFill>
                          <a:latin typeface="Segoe UI"/>
                        </a:defRPr>
                      </a:pPr>
                      <a:r>
                        <a:t>Risk Register, Jobs,</a:t>
                      </a:r>
                    </a:p>
                    <a:p>
                      <a:pPr algn="l">
                        <a:defRPr sz="960" b="0">
                          <a:solidFill>
                            <a:srgbClr val="F8FAFC"/>
                          </a:solidFill>
                          <a:latin typeface="Segoe UI"/>
                        </a:defRPr>
                      </a:pPr>
                      <a:r>
                        <a:t>UI Overhaul &amp; Go-Live</a:t>
                      </a:r>
                    </a:p>
                  </a:txBody>
                  <a:tcPr anchor="ctr">
                    <a:solidFill>
                      <a:srgbClr val="0B0F19"/>
                    </a:solidFill>
                  </a:tcPr>
                </a:tc>
                <a:tc>
                  <a:txBody>
                    <a:bodyPr/>
                    <a:lstStyle/>
                    <a:p>
                      <a:pPr algn="l">
                        <a:defRPr sz="960" b="0">
                          <a:solidFill>
                            <a:srgbClr val="F8FAFC"/>
                          </a:solidFill>
                          <a:latin typeface="Segoe UI"/>
                        </a:defRPr>
                      </a:pPr>
                      <a:r>
                        <a:t>Upgrade risk treatment workflows, automate jobs, harden RBAC, and deploy live.</a:t>
                      </a:r>
                    </a:p>
                  </a:txBody>
                  <a:tcPr anchor="ctr">
                    <a:solidFill>
                      <a:srgbClr val="0B0F19"/>
                    </a:solidFill>
                  </a:tcPr>
                </a:tc>
                <a:tc>
                  <a:txBody>
                    <a:bodyPr/>
                    <a:lstStyle/>
                    <a:p>
                      <a:pPr algn="l">
                        <a:defRPr sz="960" b="0">
                          <a:solidFill>
                            <a:srgbClr val="F8FAFC"/>
                          </a:solidFill>
                          <a:latin typeface="Segoe UI"/>
                        </a:defRPr>
                      </a:pPr>
                      <a:r>
                        <a:t>• Dedicated Risk model (1–25 score), 4 Treatment strategies &amp; 5x5 Heatmap</a:t>
                      </a:r>
                    </a:p>
                    <a:p>
                      <a:pPr algn="ctr">
                        <a:defRPr sz="960" b="0">
                          <a:solidFill>
                            <a:srgbClr val="F8FAFC"/>
                          </a:solidFill>
                          <a:latin typeface="Segoe UI"/>
                        </a:defRPr>
                      </a:pPr>
                      <a:r>
                        <a:t>• Email + In-App Notifications &amp; 3 Scheduled Jobs (Snapshots, Reminders)</a:t>
                      </a:r>
                    </a:p>
                    <a:p>
                      <a:pPr algn="ctr">
                        <a:defRPr sz="960" b="0">
                          <a:solidFill>
                            <a:srgbClr val="F8FAFC"/>
                          </a:solidFill>
                          <a:latin typeface="Segoe UI"/>
                        </a:defRPr>
                      </a:pPr>
                      <a:r>
                        <a:t>• Vanta-style Tailwind UI overhaul, AssetPolicy/RiskPolicy RBAC (403 guard)</a:t>
                      </a:r>
                    </a:p>
                    <a:p>
                      <a:pPr algn="ctr">
                        <a:defRPr sz="960" b="0">
                          <a:solidFill>
                            <a:srgbClr val="F8FAFC"/>
                          </a:solidFill>
                          <a:latin typeface="Segoe UI"/>
                        </a:defRPr>
                      </a:pPr>
                      <a:r>
                        <a:t>• Custom error pages (403, 404, 419, 500, 503) &amp; InfinityFree deployment</a:t>
                      </a:r>
                    </a:p>
                  </a:txBody>
                  <a:tcPr anchor="ctr">
                    <a:solidFill>
                      <a:srgbClr val="0B0F19"/>
                    </a:solidFill>
                  </a:tcPr>
                </a:tc>
                <a:tc>
                  <a:txBody>
                    <a:bodyPr/>
                    <a:lstStyle/>
                    <a:p>
                      <a:pPr algn="l">
                        <a:defRPr sz="960" b="0">
                          <a:solidFill>
                            <a:srgbClr val="06B6D4"/>
                          </a:solidFill>
                          <a:latin typeface="Segoe UI"/>
                        </a:defRPr>
                      </a:pPr>
                      <a:r>
                        <a:t>✔ 71/71 Tests (169 Asserts)</a:t>
                      </a:r>
                    </a:p>
                    <a:p>
                      <a:pPr algn="ctr">
                        <a:defRPr sz="960" b="0">
                          <a:solidFill>
                            <a:srgbClr val="F8FAFC"/>
                          </a:solidFill>
                          <a:latin typeface="Segoe UI"/>
                        </a:defRPr>
                      </a:pPr>
                      <a:r>
                        <a:t>✔ 25+ Blade Views Polished</a:t>
                      </a:r>
                    </a:p>
                    <a:p>
                      <a:pPr algn="ctr">
                        <a:defRPr sz="960" b="0">
                          <a:solidFill>
                            <a:srgbClr val="F8FAFC"/>
                          </a:solidFill>
                          <a:latin typeface="Segoe UI"/>
                        </a:defRPr>
                      </a:pPr>
                      <a:r>
                        <a:t>✔ 15+ Production Bug Fixes</a:t>
                      </a:r>
                    </a:p>
                    <a:p>
                      <a:pPr algn="ctr">
                        <a:defRPr sz="960" b="0">
                          <a:solidFill>
                            <a:srgbClr val="F8FAFC"/>
                          </a:solidFill>
                          <a:latin typeface="Segoe UI"/>
                        </a:defRPr>
                      </a:pPr>
                      <a:r>
                        <a:t>✔ Live HTTPS Deployment</a:t>
                      </a:r>
                    </a:p>
                  </a:txBody>
                  <a:tcPr anchor="ctr">
                    <a:solidFill>
                      <a:srgbClr val="0B0F19"/>
                    </a:solidFill>
                  </a:tcPr>
                </a:tc>
              </a:tr>
            </a:tbl>
          </a:graphicData>
        </a:graphic>
      </p:graphicFrame>
      <p:sp>
        <p:nvSpPr>
          <p:cNvPr id="14"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STRICT ARCHITECTURAL GOVERNANCE ACROSS ALL 8 PHASES:  </a:t>
            </a:r>
            <a:r>
              <a:rPr sz="1100" b="0">
                <a:solidFill>
                  <a:srgbClr val="F8FAFC"/>
                </a:solidFill>
                <a:latin typeface="Segoe UI"/>
              </a:rPr>
              <a:t>Zero business logic resides in Controllers or Blade views. Every module strictly follows Request Validation ➔ Readonly DTO ➔ Service Class ➔ Repository Interface ➔ Tenant-Scoped Eloquent Model.</a:t>
            </a:r>
          </a:p>
        </p:txBody>
      </p:sp>
      <p:sp>
        <p:nvSpPr>
          <p:cNvPr id="16" name="Rectangle 15"/>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18" name="TextBox 17"/>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2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06B6D4"/>
                </a:solidFill>
                <a:latin typeface="Segoe UI"/>
              </a:defRPr>
            </a:pPr>
            <a:r>
              <a:t>PHASE 1 • FOUNDATION</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1: Multi-Tenancy Core, RBAC &amp; Clean Architecture</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Establish automatic tenant data isolation and enterprise Service-Repository-DTO patterns</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1886712"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28016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66344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143000"/>
            <a:ext cx="3291840"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325880"/>
            <a:ext cx="438912" cy="438912"/>
          </a:xfrm>
          <a:prstGeom prst="roundRect">
            <a:avLst>
              <a:gd name="adj" fmla="val 22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15" name="TextBox 14"/>
          <p:cNvSpPr txBox="1"/>
          <p:nvPr/>
        </p:nvSpPr>
        <p:spPr>
          <a:xfrm>
            <a:off x="123444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Service-Repo-DTO Pattern</a:t>
            </a:r>
          </a:p>
        </p:txBody>
      </p:sp>
      <p:sp>
        <p:nvSpPr>
          <p:cNvPr id="16" name="TextBox 15"/>
          <p:cNvSpPr txBox="1"/>
          <p:nvPr/>
        </p:nvSpPr>
        <p:spPr>
          <a:xfrm>
            <a:off x="70408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Thin Controllers: </a:t>
            </a:r>
            <a:r>
              <a:rPr sz="1050">
                <a:solidFill>
                  <a:srgbClr val="F8FAFC"/>
                </a:solidFill>
                <a:latin typeface="Segoe UI"/>
              </a:rPr>
              <a:t>Only validate FormRequests, invoke Services, and return views/JSON.</a:t>
            </a:r>
          </a:p>
          <a:p>
            <a:pPr>
              <a:spcAft>
                <a:spcPts val="450"/>
              </a:spcAft>
            </a:pPr>
            <a:r>
              <a:rPr sz="1050" b="1">
                <a:solidFill>
                  <a:srgbClr val="06B6D4"/>
                </a:solidFill>
                <a:latin typeface="Segoe UI"/>
              </a:rPr>
              <a:t>• Service Layer: </a:t>
            </a:r>
            <a:r>
              <a:rPr sz="1050">
                <a:solidFill>
                  <a:srgbClr val="F8FAFC"/>
                </a:solidFill>
                <a:latin typeface="Segoe UI"/>
              </a:rPr>
              <a:t>All domain rules isolated in app/Services/ (Tenant, Assessment, Risk, SoA).</a:t>
            </a:r>
          </a:p>
          <a:p>
            <a:pPr>
              <a:spcAft>
                <a:spcPts val="450"/>
              </a:spcAft>
            </a:pPr>
            <a:r>
              <a:rPr sz="1050" b="1">
                <a:solidFill>
                  <a:srgbClr val="F59E0B"/>
                </a:solidFill>
                <a:latin typeface="Segoe UI"/>
              </a:rPr>
              <a:t>• Repository Contracts: </a:t>
            </a:r>
            <a:r>
              <a:rPr sz="1050">
                <a:solidFill>
                  <a:srgbClr val="F8FAFC"/>
                </a:solidFill>
                <a:latin typeface="Segoe UI"/>
              </a:rPr>
              <a:t>Interfaces bound in AppServiceProvider for clean testability.</a:t>
            </a:r>
          </a:p>
          <a:p>
            <a:pPr>
              <a:spcAft>
                <a:spcPts val="450"/>
              </a:spcAft>
            </a:pPr>
            <a:r>
              <a:rPr sz="1050" b="1">
                <a:solidFill>
                  <a:srgbClr val="8B95F6"/>
                </a:solidFill>
                <a:latin typeface="Segoe UI"/>
              </a:rPr>
              <a:t>• Readonly DTOs: </a:t>
            </a:r>
            <a:r>
              <a:rPr sz="1050">
                <a:solidFill>
                  <a:srgbClr val="F8FAFC"/>
                </a:solidFill>
                <a:latin typeface="Segoe UI"/>
              </a:rPr>
              <a:t>Type-safe data transfer across layers (TenantData, AssessmentData, RiskData).</a:t>
            </a:r>
          </a:p>
        </p:txBody>
      </p:sp>
      <p:sp>
        <p:nvSpPr>
          <p:cNvPr id="17" name="!!secondary_card"/>
          <p:cNvSpPr/>
          <p:nvPr/>
        </p:nvSpPr>
        <p:spPr>
          <a:xfrm>
            <a:off x="429768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1143000"/>
            <a:ext cx="329184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8848" y="1325880"/>
            <a:ext cx="438912" cy="438912"/>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0" name="TextBox 19"/>
          <p:cNvSpPr txBox="1"/>
          <p:nvPr/>
        </p:nvSpPr>
        <p:spPr>
          <a:xfrm>
            <a:off x="502920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Single-DB Multi-Tenancy</a:t>
            </a:r>
          </a:p>
        </p:txBody>
      </p:sp>
      <p:sp>
        <p:nvSpPr>
          <p:cNvPr id="21" name="TextBox 20"/>
          <p:cNvSpPr txBox="1"/>
          <p:nvPr/>
        </p:nvSpPr>
        <p:spPr>
          <a:xfrm>
            <a:off x="449884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Automatic TenantScope: </a:t>
            </a:r>
            <a:r>
              <a:rPr sz="1050">
                <a:solidFill>
                  <a:srgbClr val="F8FAFC"/>
                </a:solidFill>
                <a:latin typeface="Segoe UI"/>
              </a:rPr>
              <a:t>Global Eloquent scope appends WHERE tenant_id = current_tenant_id.</a:t>
            </a:r>
          </a:p>
          <a:p>
            <a:pPr>
              <a:spcAft>
                <a:spcPts val="450"/>
              </a:spcAft>
            </a:pPr>
            <a:r>
              <a:rPr sz="1050" b="1">
                <a:solidFill>
                  <a:srgbClr val="06B6D4"/>
                </a:solidFill>
                <a:latin typeface="Segoe UI"/>
              </a:rPr>
              <a:t>• Column-Safe Guard: </a:t>
            </a:r>
            <a:r>
              <a:rPr sz="1050">
                <a:solidFill>
                  <a:srgbClr val="F8FAFC"/>
                </a:solidFill>
                <a:latin typeface="Segoe UI"/>
              </a:rPr>
              <a:t>Checks Schema::hasColumn('tenant_id') to protect global ISO catalogs.</a:t>
            </a:r>
          </a:p>
          <a:p>
            <a:pPr>
              <a:spcAft>
                <a:spcPts val="450"/>
              </a:spcAft>
            </a:pPr>
            <a:r>
              <a:rPr sz="1050" b="1">
                <a:solidFill>
                  <a:srgbClr val="F59E0B"/>
                </a:solidFill>
                <a:latin typeface="Segoe UI"/>
              </a:rPr>
              <a:t>• Session Context: </a:t>
            </a:r>
            <a:r>
              <a:rPr sz="1050">
                <a:solidFill>
                  <a:srgbClr val="F8FAFC"/>
                </a:solidFill>
                <a:latin typeface="Segoe UI"/>
              </a:rPr>
              <a:t>EnsureTenantSelected middleware enforces active organization context.</a:t>
            </a:r>
          </a:p>
          <a:p>
            <a:pPr>
              <a:spcAft>
                <a:spcPts val="450"/>
              </a:spcAft>
            </a:pPr>
            <a:r>
              <a:rPr sz="1050" b="1">
                <a:solidFill>
                  <a:srgbClr val="EF4444"/>
                </a:solidFill>
                <a:latin typeface="Segoe UI"/>
              </a:rPr>
              <a:t>• Zero Data Leakage: </a:t>
            </a:r>
            <a:r>
              <a:rPr sz="1050">
                <a:solidFill>
                  <a:srgbClr val="F8FAFC"/>
                </a:solidFill>
                <a:latin typeface="Segoe UI"/>
              </a:rPr>
              <a:t>Verified via automated cross-tenant isolation feature tests.</a:t>
            </a:r>
          </a:p>
        </p:txBody>
      </p:sp>
      <p:sp>
        <p:nvSpPr>
          <p:cNvPr id="22" name="Rounded Rectangle 21"/>
          <p:cNvSpPr/>
          <p:nvPr/>
        </p:nvSpPr>
        <p:spPr>
          <a:xfrm>
            <a:off x="8092440" y="1143000"/>
            <a:ext cx="3593592"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1143000"/>
            <a:ext cx="3319272"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93608" y="1325880"/>
            <a:ext cx="438912" cy="438912"/>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5" name="TextBox 24"/>
          <p:cNvSpPr txBox="1"/>
          <p:nvPr/>
        </p:nvSpPr>
        <p:spPr>
          <a:xfrm>
            <a:off x="8823960" y="1362456"/>
            <a:ext cx="2724912" cy="365760"/>
          </a:xfrm>
          <a:prstGeom prst="rect">
            <a:avLst/>
          </a:prstGeom>
          <a:noFill/>
        </p:spPr>
        <p:txBody>
          <a:bodyPr wrap="square" lIns="45720" rIns="45720" tIns="27432" bIns="27432">
            <a:spAutoFit/>
          </a:bodyPr>
          <a:lstStyle/>
          <a:p>
            <a:pPr algn="l">
              <a:defRPr sz="1350" b="1">
                <a:solidFill>
                  <a:srgbClr val="F8FAFC"/>
                </a:solidFill>
                <a:latin typeface="Segoe UI"/>
              </a:defRPr>
            </a:pPr>
            <a:r>
              <a:t>RBAC &amp; Token Invitations</a:t>
            </a:r>
          </a:p>
        </p:txBody>
      </p:sp>
      <p:sp>
        <p:nvSpPr>
          <p:cNvPr id="26" name="TextBox 25"/>
          <p:cNvSpPr txBox="1"/>
          <p:nvPr/>
        </p:nvSpPr>
        <p:spPr>
          <a:xfrm>
            <a:off x="8293608" y="1892807"/>
            <a:ext cx="3191256" cy="3364991"/>
          </a:xfrm>
          <a:prstGeom prst="rect">
            <a:avLst/>
          </a:prstGeom>
          <a:noFill/>
        </p:spPr>
        <p:txBody>
          <a:bodyPr wrap="square" lIns="0" tIns="0">
            <a:spAutoFit/>
          </a:bodyPr>
          <a:lstStyle/>
          <a:p>
            <a:pPr>
              <a:spcAft>
                <a:spcPts val="450"/>
              </a:spcAft>
            </a:pPr>
            <a:r>
              <a:rPr sz="1050" b="1">
                <a:solidFill>
                  <a:srgbClr val="6366F1"/>
                </a:solidFill>
                <a:latin typeface="Segoe UI"/>
              </a:rPr>
              <a:t>• 5 Granular Roles: </a:t>
            </a:r>
            <a:r>
              <a:rPr sz="1050">
                <a:solidFill>
                  <a:srgbClr val="F8FAFC"/>
                </a:solidFill>
                <a:latin typeface="Segoe UI"/>
              </a:rPr>
              <a:t>Owner, Admin, Auditor, Assessor, and Viewer via tenant_user pivot.</a:t>
            </a:r>
          </a:p>
          <a:p>
            <a:pPr>
              <a:spcAft>
                <a:spcPts val="450"/>
              </a:spcAft>
            </a:pPr>
            <a:r>
              <a:rPr sz="1050" b="1">
                <a:solidFill>
                  <a:srgbClr val="10B981"/>
                </a:solidFill>
                <a:latin typeface="Segoe UI"/>
              </a:rPr>
              <a:t>• Secure Onboarding: </a:t>
            </a:r>
            <a:r>
              <a:rPr sz="1050">
                <a:solidFill>
                  <a:srgbClr val="F8FAFC"/>
                </a:solidFill>
                <a:latin typeface="Segoe UI"/>
              </a:rPr>
              <a:t>Tokenized email invitations with 7-day expiry and role pre-assignment.</a:t>
            </a:r>
          </a:p>
          <a:p>
            <a:pPr>
              <a:spcAft>
                <a:spcPts val="450"/>
              </a:spcAft>
            </a:pPr>
            <a:r>
              <a:rPr sz="1050" b="1">
                <a:solidFill>
                  <a:srgbClr val="F59E0B"/>
                </a:solidFill>
                <a:latin typeface="Segoe UI"/>
              </a:rPr>
              <a:t>• Policy Enforcement: </a:t>
            </a:r>
            <a:r>
              <a:rPr sz="1050">
                <a:solidFill>
                  <a:srgbClr val="F8FAFC"/>
                </a:solidFill>
                <a:latin typeface="Segoe UI"/>
              </a:rPr>
              <a:t>Role-based checks via roleInCurrentTenant() and Laravel Policies.</a:t>
            </a:r>
          </a:p>
          <a:p>
            <a:pPr>
              <a:spcAft>
                <a:spcPts val="450"/>
              </a:spcAft>
            </a:pPr>
            <a:r>
              <a:rPr sz="1050" b="1">
                <a:solidFill>
                  <a:srgbClr val="06B6D4"/>
                </a:solidFill>
                <a:latin typeface="Segoe UI"/>
              </a:rPr>
              <a:t>• Complete ISO Seeders: </a:t>
            </a:r>
            <a:r>
              <a:rPr sz="1050">
                <a:solidFill>
                  <a:srgbClr val="F8FAFC"/>
                </a:solidFill>
                <a:latin typeface="Segoe UI"/>
              </a:rPr>
              <a:t>11 Domains + 115 Controls seeded with implementation guidance.</a:t>
            </a:r>
          </a:p>
        </p:txBody>
      </p:sp>
      <p:sp>
        <p:nvSpPr>
          <p:cNvPr id="27"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GLOBAL CATALOGUES vs TENANT-SCOPED ENTITIES:  </a:t>
            </a:r>
            <a:r>
              <a:rPr sz="1100" b="0">
                <a:solidFill>
                  <a:srgbClr val="F8FAFC"/>
                </a:solidFill>
                <a:latin typeface="Segoe UI"/>
              </a:rPr>
              <a:t>ISO 27001 Domains (11) and Controls (115) are stored as global read-only reference tables, while Assessments, Risks, Assets, Documents, and Snapshots are strictly isolated per organization via TenantScope.</a:t>
            </a:r>
          </a:p>
        </p:txBody>
      </p:sp>
      <p:sp>
        <p:nvSpPr>
          <p:cNvPr id="29" name="Rectangle 28"/>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1" name="TextBox 30"/>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3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10B981"/>
                </a:solidFill>
                <a:latin typeface="Segoe UI"/>
              </a:defRPr>
            </a:pPr>
            <a:r>
              <a:t>PHASE 2 • ASSESSMENT ENGINE</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2: ISO/IEC 27001:2022 Library &amp; Assessment Workflow</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Evaluate 115 controls across 11 domains with 0–5 maturity scoring and weighted compliance math</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2578607"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15568"/>
            <a:ext cx="5440680" cy="4279392"/>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234440"/>
            <a:ext cx="5029200" cy="320040"/>
          </a:xfrm>
          <a:prstGeom prst="rect">
            <a:avLst/>
          </a:prstGeom>
          <a:noFill/>
        </p:spPr>
        <p:txBody>
          <a:bodyPr wrap="square" lIns="45720" rIns="45720" tIns="27432" bIns="27432">
            <a:spAutoFit/>
          </a:bodyPr>
          <a:lstStyle/>
          <a:p>
            <a:pPr algn="l">
              <a:defRPr sz="1350" b="1">
                <a:solidFill>
                  <a:srgbClr val="10B981"/>
                </a:solidFill>
                <a:latin typeface="Segoe UI"/>
              </a:defRPr>
            </a:pPr>
            <a:r>
              <a:t>COMPLETE ISO/IEC 27001:2022 CONTROL LIBRARY</a:t>
            </a:r>
          </a:p>
        </p:txBody>
      </p:sp>
      <p:sp>
        <p:nvSpPr>
          <p:cNvPr id="14" name="TextBox 13"/>
          <p:cNvSpPr txBox="1"/>
          <p:nvPr/>
        </p:nvSpPr>
        <p:spPr>
          <a:xfrm>
            <a:off x="713232" y="1600200"/>
            <a:ext cx="5029200" cy="3657600"/>
          </a:xfrm>
          <a:prstGeom prst="rect">
            <a:avLst/>
          </a:prstGeom>
          <a:noFill/>
        </p:spPr>
        <p:txBody>
          <a:bodyPr wrap="square">
            <a:spAutoFit/>
          </a:bodyPr>
          <a:lstStyle/>
          <a:p>
            <a:pPr>
              <a:spcAft>
                <a:spcPts val="550"/>
              </a:spcAft>
            </a:pPr>
            <a:r>
              <a:rPr sz="1100" b="1">
                <a:solidFill>
                  <a:srgbClr val="06B6D4"/>
                </a:solidFill>
                <a:latin typeface="Segoe UI"/>
              </a:rPr>
              <a:t>11 Structured Domains: </a:t>
            </a:r>
            <a:r>
              <a:rPr sz="1100" b="0">
                <a:solidFill>
                  <a:srgbClr val="F8FAFC"/>
                </a:solidFill>
                <a:latin typeface="Segoe UI"/>
              </a:rPr>
              <a:t>7 Main Clauses (Clauses 4 to 10 — ISMS Management) + 4 Annex A Themes (A.5 to A.8).</a:t>
            </a:r>
          </a:p>
          <a:p>
            <a:pPr>
              <a:spcAft>
                <a:spcPts val="550"/>
              </a:spcAft>
            </a:pPr>
            <a:r>
              <a:rPr sz="1100" b="1">
                <a:solidFill>
                  <a:srgbClr val="F8FAFC"/>
                </a:solidFill>
                <a:latin typeface="Segoe UI"/>
              </a:rPr>
              <a:t>Annex A Theme Breakdown (93 Core + Extended = 115 Total): </a:t>
            </a:r>
            <a:r>
              <a:rPr sz="1100" b="0">
                <a:solidFill>
                  <a:srgbClr val="F8FAFC"/>
                </a:solidFill>
                <a:latin typeface="Segoe UI"/>
              </a:rPr>
              <a:t>
   • A.5 Organizational Controls: 37 core controls (Policies, Roles, Threat Intel)
   • A.6 People Controls: 8 controls (Screening, NDA, Awareness, Remote Work)
   • A.7 Physical Controls: 14 controls (Perimeters, Cabling, Clear Desk, Media)
   • A.8 Technological Controls: 34 core controls (Crypto, Access, Logging, SDLC)</a:t>
            </a:r>
          </a:p>
          <a:p>
            <a:pPr>
              <a:spcAft>
                <a:spcPts val="550"/>
              </a:spcAft>
            </a:pPr>
            <a:r>
              <a:rPr sz="1100" b="1">
                <a:solidFill>
                  <a:srgbClr val="F59E0B"/>
                </a:solidFill>
                <a:latin typeface="Segoe UI"/>
              </a:rPr>
              <a:t>Assessment Lifecycle: </a:t>
            </a:r>
            <a:r>
              <a:rPr sz="1100" b="0">
                <a:solidFill>
                  <a:srgbClr val="F8FAFC"/>
                </a:solidFill>
                <a:latin typeface="Segoe UI"/>
              </a:rPr>
              <a:t>Draft ➔ In Progress ➔ Completed ➔ Archived with team member role assignments (assessment_team table).</a:t>
            </a:r>
          </a:p>
          <a:p>
            <a:pPr>
              <a:spcAft>
                <a:spcPts val="550"/>
              </a:spcAft>
            </a:pPr>
            <a:r>
              <a:rPr sz="1100" b="1">
                <a:solidFill>
                  <a:srgbClr val="10B981"/>
                </a:solidFill>
                <a:latin typeface="Segoe UI"/>
              </a:rPr>
              <a:t>Bulk &amp; Granular Evaluation: </a:t>
            </a:r>
            <a:r>
              <a:rPr sz="1100" b="0">
                <a:solidFill>
                  <a:srgbClr val="F8FAFC"/>
                </a:solidFill>
                <a:latin typeface="Segoe UI"/>
              </a:rPr>
              <a:t>Single control evaluation or bulk status updates across domains with evidence notes and gap descriptions.</a:t>
            </a:r>
          </a:p>
        </p:txBody>
      </p:sp>
      <p:sp>
        <p:nvSpPr>
          <p:cNvPr id="15" name="!!secondary_card"/>
          <p:cNvSpPr/>
          <p:nvPr/>
        </p:nvSpPr>
        <p:spPr>
          <a:xfrm>
            <a:off x="6172200" y="1115568"/>
            <a:ext cx="5516575" cy="4279392"/>
          </a:xfrm>
          <a:prstGeom prst="roundRect">
            <a:avLst>
              <a:gd name="adj" fmla="val 4000"/>
            </a:avLst>
          </a:prstGeom>
          <a:solidFill>
            <a:srgbClr val="161F33"/>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234440"/>
            <a:ext cx="5120640" cy="320040"/>
          </a:xfrm>
          <a:prstGeom prst="rect">
            <a:avLst/>
          </a:prstGeom>
          <a:noFill/>
        </p:spPr>
        <p:txBody>
          <a:bodyPr wrap="square" lIns="45720" rIns="45720" tIns="27432" bIns="27432">
            <a:spAutoFit/>
          </a:bodyPr>
          <a:lstStyle/>
          <a:p>
            <a:pPr algn="l">
              <a:defRPr sz="1350" b="1">
                <a:solidFill>
                  <a:srgbClr val="F59E0B"/>
                </a:solidFill>
                <a:latin typeface="Segoe UI"/>
              </a:defRPr>
            </a:pPr>
            <a:r>
              <a:t>MATURITY MODEL (0–5) &amp; COMPLIANCE CALCULATOR</a:t>
            </a:r>
          </a:p>
        </p:txBody>
      </p:sp>
      <p:sp>
        <p:nvSpPr>
          <p:cNvPr id="17" name="TextBox 16"/>
          <p:cNvSpPr txBox="1"/>
          <p:nvPr/>
        </p:nvSpPr>
        <p:spPr>
          <a:xfrm>
            <a:off x="6382512" y="1600200"/>
            <a:ext cx="5120640" cy="3657600"/>
          </a:xfrm>
          <a:prstGeom prst="rect">
            <a:avLst/>
          </a:prstGeom>
          <a:noFill/>
        </p:spPr>
        <p:txBody>
          <a:bodyPr wrap="square">
            <a:spAutoFit/>
          </a:bodyPr>
          <a:lstStyle/>
          <a:p>
            <a:pPr>
              <a:spcAft>
                <a:spcPts val="550"/>
              </a:spcAft>
            </a:pPr>
            <a:r>
              <a:rPr sz="1100" b="1">
                <a:solidFill>
                  <a:srgbClr val="10B981"/>
                </a:solidFill>
                <a:latin typeface="Segoe UI"/>
              </a:rPr>
              <a:t>5 Compliance States: </a:t>
            </a:r>
            <a:r>
              <a:rPr sz="1100" b="0">
                <a:solidFill>
                  <a:srgbClr val="F8FAFC"/>
                </a:solidFill>
                <a:latin typeface="Segoe UI"/>
              </a:rPr>
              <a:t>✅ Compliant (100% weight)  |  ⚠️ Partially Compliant (50% weight)  |  ❌ Non-Compliant (0%)  |  ⊘ Not Applicable (Excluded from denominator)  |  ○ Not Assessed.</a:t>
            </a:r>
          </a:p>
          <a:p>
            <a:pPr>
              <a:spcAft>
                <a:spcPts val="550"/>
              </a:spcAft>
            </a:pPr>
            <a:r>
              <a:rPr sz="1100" b="1">
                <a:solidFill>
                  <a:srgbClr val="06B6D4"/>
                </a:solidFill>
                <a:latin typeface="Segoe UI"/>
              </a:rPr>
              <a:t>CMMI-Aligned Maturity Scale (Levels 0 to 5): </a:t>
            </a:r>
            <a:r>
              <a:rPr sz="1100" b="0">
                <a:solidFill>
                  <a:srgbClr val="F8FAFC"/>
                </a:solidFill>
                <a:latin typeface="Segoe UI"/>
              </a:rPr>
              <a:t>
   • Level 0: Not Implemented   |   Level 1: Initial / Ad-hoc
   • Level 2: Repeatable        |   Level 3: Defined &amp; Documented
   • Level 4: Managed &amp; Measured|   Level 5: Optimized &amp; Continuous</a:t>
            </a:r>
          </a:p>
          <a:p>
            <a:pPr>
              <a:spcAft>
                <a:spcPts val="550"/>
              </a:spcAft>
            </a:pPr>
            <a:r>
              <a:rPr sz="1100" b="1">
                <a:solidFill>
                  <a:srgbClr val="F59E0B"/>
                </a:solidFill>
                <a:latin typeface="Segoe UI"/>
              </a:rPr>
              <a:t>Weighted Compliance Formula (ComplianceCalculator.php): </a:t>
            </a:r>
            <a:r>
              <a:rPr sz="1100" b="0">
                <a:solidFill>
                  <a:srgbClr val="F8FAFC"/>
                </a:solidFill>
                <a:latin typeface="Segoe UI"/>
              </a:rPr>
              <a:t>
   Score = [(Compliant + 0.5 × Partially_Compliant) / Applicable_Assessed] × 100</a:t>
            </a:r>
          </a:p>
          <a:p>
            <a:pPr>
              <a:spcAft>
                <a:spcPts val="550"/>
              </a:spcAft>
            </a:pPr>
            <a:r>
              <a:rPr sz="1100" b="1">
                <a:solidFill>
                  <a:srgbClr val="8B95F6"/>
                </a:solidFill>
                <a:latin typeface="Segoe UI"/>
              </a:rPr>
              <a:t>Real-Time Domain Analytics: </a:t>
            </a:r>
            <a:r>
              <a:rPr sz="1100" b="0">
                <a:solidFill>
                  <a:srgbClr val="F8FAFC"/>
                </a:solidFill>
                <a:latin typeface="Segoe UI"/>
              </a:rPr>
              <a:t>Automatically computes domain-level completion percentages, maturity distribution, and top compliance gaps.</a:t>
            </a:r>
          </a:p>
        </p:txBody>
      </p:sp>
      <p:sp>
        <p:nvSpPr>
          <p:cNvPr id="18"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ACCURATE DENOMINATOR HANDLING FOR 'NOT APPLICABLE' CONTROLS:  </a:t>
            </a:r>
            <a:r>
              <a:rPr sz="1100" b="0">
                <a:solidFill>
                  <a:srgbClr val="F8FAFC"/>
                </a:solidFill>
                <a:latin typeface="Segoe UI"/>
              </a:rPr>
              <a:t>Controls marked 'Not Applicable' require a mandatory justification and are excluded from the compliance score denominator so organizations are not penalized for out-of-scope controls.</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4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EF4444"/>
                </a:solidFill>
                <a:latin typeface="Segoe UI"/>
              </a:defRPr>
            </a:pPr>
            <a:r>
              <a:t>PHASE 3 &amp; 7 • RISK ENGINE</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3 &amp; 7: Asset CMDB, 5×5 Risk Register &amp; Treatment Plans</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Quantify asset criticality, automate Likelihood × Impact risk scoring, and track mitigations</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3270503"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228600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347472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secondary_card"/>
          <p:cNvSpPr/>
          <p:nvPr/>
        </p:nvSpPr>
        <p:spPr>
          <a:xfrm>
            <a:off x="50292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143000"/>
            <a:ext cx="3291840"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325880"/>
            <a:ext cx="438912" cy="438912"/>
          </a:xfrm>
          <a:prstGeom prst="roundRect">
            <a:avLst>
              <a:gd name="adj" fmla="val 22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15" name="TextBox 14"/>
          <p:cNvSpPr txBox="1"/>
          <p:nvPr/>
        </p:nvSpPr>
        <p:spPr>
          <a:xfrm>
            <a:off x="123444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Information Asset CMDB</a:t>
            </a:r>
          </a:p>
        </p:txBody>
      </p:sp>
      <p:sp>
        <p:nvSpPr>
          <p:cNvPr id="16" name="TextBox 15"/>
          <p:cNvSpPr txBox="1"/>
          <p:nvPr/>
        </p:nvSpPr>
        <p:spPr>
          <a:xfrm>
            <a:off x="704088" y="1892807"/>
            <a:ext cx="3163824" cy="3364991"/>
          </a:xfrm>
          <a:prstGeom prst="rect">
            <a:avLst/>
          </a:prstGeom>
          <a:noFill/>
        </p:spPr>
        <p:txBody>
          <a:bodyPr wrap="square" lIns="0" tIns="0">
            <a:spAutoFit/>
          </a:bodyPr>
          <a:lstStyle/>
          <a:p>
            <a:pPr>
              <a:spcAft>
                <a:spcPts val="450"/>
              </a:spcAft>
            </a:pPr>
            <a:r>
              <a:rPr sz="1050" b="1">
                <a:solidFill>
                  <a:srgbClr val="06B6D4"/>
                </a:solidFill>
                <a:latin typeface="Segoe UI"/>
              </a:rPr>
              <a:t>• 6 Asset Categories: </a:t>
            </a:r>
            <a:r>
              <a:rPr sz="1050">
                <a:solidFill>
                  <a:srgbClr val="F8FAFC"/>
                </a:solidFill>
                <a:latin typeface="Segoe UI"/>
              </a:rPr>
              <a:t>Hardware, Software, Data, People, Facility, and Cloud Services.</a:t>
            </a:r>
          </a:p>
          <a:p>
            <a:pPr>
              <a:spcAft>
                <a:spcPts val="450"/>
              </a:spcAft>
            </a:pPr>
            <a:r>
              <a:rPr sz="1050" b="1">
                <a:solidFill>
                  <a:srgbClr val="10B981"/>
                </a:solidFill>
                <a:latin typeface="Segoe UI"/>
              </a:rPr>
              <a:t>• CIA Triad Valuation: </a:t>
            </a:r>
            <a:r>
              <a:rPr sz="1050">
                <a:solidFill>
                  <a:srgbClr val="F8FAFC"/>
                </a:solidFill>
                <a:latin typeface="Segoe UI"/>
              </a:rPr>
              <a:t>Confidentiality (1–5), Integrity (1–5), and Availability (1–5) ratings.</a:t>
            </a:r>
          </a:p>
          <a:p>
            <a:pPr>
              <a:spcAft>
                <a:spcPts val="450"/>
              </a:spcAft>
            </a:pPr>
            <a:r>
              <a:rPr sz="1050" b="1">
                <a:solidFill>
                  <a:srgbClr val="F59E0B"/>
                </a:solidFill>
                <a:latin typeface="Segoe UI"/>
              </a:rPr>
              <a:t>• Criticality Detection: </a:t>
            </a:r>
            <a:r>
              <a:rPr sz="1050">
                <a:solidFill>
                  <a:srgbClr val="F8FAFC"/>
                </a:solidFill>
                <a:latin typeface="Segoe UI"/>
              </a:rPr>
              <a:t>Automatically flags critical assets where any CIA dimension &gt;= 4.</a:t>
            </a:r>
          </a:p>
          <a:p>
            <a:pPr>
              <a:spcAft>
                <a:spcPts val="450"/>
              </a:spcAft>
            </a:pPr>
            <a:r>
              <a:rPr sz="1050" b="1">
                <a:solidFill>
                  <a:srgbClr val="8B95F6"/>
                </a:solidFill>
                <a:latin typeface="Segoe UI"/>
              </a:rPr>
              <a:t>• Risk Linkage: </a:t>
            </a:r>
            <a:r>
              <a:rPr sz="1050">
                <a:solidFill>
                  <a:srgbClr val="F8FAFC"/>
                </a:solidFill>
                <a:latin typeface="Segoe UI"/>
              </a:rPr>
              <a:t>Every identified risk links directly to an underlying information asset.</a:t>
            </a:r>
          </a:p>
        </p:txBody>
      </p:sp>
      <p:sp>
        <p:nvSpPr>
          <p:cNvPr id="17" name="!!focus_card"/>
          <p:cNvSpPr/>
          <p:nvPr/>
        </p:nvSpPr>
        <p:spPr>
          <a:xfrm>
            <a:off x="429768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1143000"/>
            <a:ext cx="329184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8848" y="1325880"/>
            <a:ext cx="438912" cy="438912"/>
          </a:xfrm>
          <a:prstGeom prst="roundRect">
            <a:avLst>
              <a:gd name="adj" fmla="val 22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0" name="TextBox 19"/>
          <p:cNvSpPr txBox="1"/>
          <p:nvPr/>
        </p:nvSpPr>
        <p:spPr>
          <a:xfrm>
            <a:off x="502920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5×5 Quantitative Risk Matrix</a:t>
            </a:r>
          </a:p>
        </p:txBody>
      </p:sp>
      <p:sp>
        <p:nvSpPr>
          <p:cNvPr id="21" name="TextBox 20"/>
          <p:cNvSpPr txBox="1"/>
          <p:nvPr/>
        </p:nvSpPr>
        <p:spPr>
          <a:xfrm>
            <a:off x="4498848" y="1892807"/>
            <a:ext cx="3163824" cy="3364991"/>
          </a:xfrm>
          <a:prstGeom prst="rect">
            <a:avLst/>
          </a:prstGeom>
          <a:noFill/>
        </p:spPr>
        <p:txBody>
          <a:bodyPr wrap="square" lIns="0" tIns="0">
            <a:spAutoFit/>
          </a:bodyPr>
          <a:lstStyle/>
          <a:p>
            <a:pPr>
              <a:spcAft>
                <a:spcPts val="450"/>
              </a:spcAft>
            </a:pPr>
            <a:r>
              <a:rPr sz="1050" b="1">
                <a:solidFill>
                  <a:srgbClr val="EF4444"/>
                </a:solidFill>
                <a:latin typeface="Segoe UI"/>
              </a:rPr>
              <a:t>• Automated Risk Score: </a:t>
            </a:r>
            <a:r>
              <a:rPr sz="1050">
                <a:solidFill>
                  <a:srgbClr val="F8FAFC"/>
                </a:solidFill>
                <a:latin typeface="Segoe UI"/>
              </a:rPr>
              <a:t>Likelihood (1–5) × Impact (1–5) = Score (1 to 25).</a:t>
            </a:r>
          </a:p>
          <a:p>
            <a:pPr>
              <a:spcAft>
                <a:spcPts val="450"/>
              </a:spcAft>
            </a:pPr>
            <a:r>
              <a:rPr sz="1050" b="1">
                <a:solidFill>
                  <a:srgbClr val="F59E0B"/>
                </a:solidFill>
                <a:latin typeface="Segoe UI"/>
              </a:rPr>
              <a:t>• 4 Severity Bands: </a:t>
            </a:r>
            <a:r>
              <a:rPr sz="1050">
                <a:solidFill>
                  <a:srgbClr val="F8FAFC"/>
                </a:solidFill>
                <a:latin typeface="Segoe UI"/>
              </a:rPr>
              <a:t>1–4 Low (Green) | 5–9 Medium (Yellow) | 10–16 High (Orange) | 17–25 Critical (Red).</a:t>
            </a:r>
          </a:p>
          <a:p>
            <a:pPr>
              <a:spcAft>
                <a:spcPts val="450"/>
              </a:spcAft>
            </a:pPr>
            <a:r>
              <a:rPr sz="1050" b="1">
                <a:solidFill>
                  <a:srgbClr val="10B981"/>
                </a:solidFill>
                <a:latin typeface="Segoe UI"/>
              </a:rPr>
              <a:t>• 5-Stage Risk Lifecycle: </a:t>
            </a:r>
            <a:r>
              <a:rPr sz="1050">
                <a:solidFill>
                  <a:srgbClr val="F8FAFC"/>
                </a:solidFill>
                <a:latin typeface="Segoe UI"/>
              </a:rPr>
              <a:t>Identified ➔ Assessed ➔ Treated ➔ Monitored ➔ Closed.</a:t>
            </a:r>
          </a:p>
          <a:p>
            <a:pPr>
              <a:spcAft>
                <a:spcPts val="450"/>
              </a:spcAft>
            </a:pPr>
            <a:r>
              <a:rPr sz="1050" b="1">
                <a:solidFill>
                  <a:srgbClr val="06B6D4"/>
                </a:solidFill>
                <a:latin typeface="Segoe UI"/>
              </a:rPr>
              <a:t>• Interactive Heatmap: </a:t>
            </a:r>
            <a:r>
              <a:rPr sz="1050">
                <a:solidFill>
                  <a:srgbClr val="F8FAFC"/>
                </a:solidFill>
                <a:latin typeface="Segoe UI"/>
              </a:rPr>
              <a:t>JSON endpoint (/risks/heatmap/data) powers a clickable 5×5 drill-down grid.</a:t>
            </a:r>
          </a:p>
        </p:txBody>
      </p:sp>
      <p:sp>
        <p:nvSpPr>
          <p:cNvPr id="22" name="Rounded Rectangle 21"/>
          <p:cNvSpPr/>
          <p:nvPr/>
        </p:nvSpPr>
        <p:spPr>
          <a:xfrm>
            <a:off x="8092440" y="1143000"/>
            <a:ext cx="3593592"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1143000"/>
            <a:ext cx="3319272"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93608" y="1325880"/>
            <a:ext cx="438912" cy="438912"/>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5" name="TextBox 24"/>
          <p:cNvSpPr txBox="1"/>
          <p:nvPr/>
        </p:nvSpPr>
        <p:spPr>
          <a:xfrm>
            <a:off x="8823960" y="1362456"/>
            <a:ext cx="2724912" cy="365760"/>
          </a:xfrm>
          <a:prstGeom prst="rect">
            <a:avLst/>
          </a:prstGeom>
          <a:noFill/>
        </p:spPr>
        <p:txBody>
          <a:bodyPr wrap="square" lIns="45720" rIns="45720" tIns="27432" bIns="27432">
            <a:spAutoFit/>
          </a:bodyPr>
          <a:lstStyle/>
          <a:p>
            <a:pPr algn="l">
              <a:defRPr sz="1350" b="1">
                <a:solidFill>
                  <a:srgbClr val="F8FAFC"/>
                </a:solidFill>
                <a:latin typeface="Segoe UI"/>
              </a:defRPr>
            </a:pPr>
            <a:r>
              <a:t>4-Strategy Treatment Plans</a:t>
            </a:r>
          </a:p>
        </p:txBody>
      </p:sp>
      <p:sp>
        <p:nvSpPr>
          <p:cNvPr id="26" name="TextBox 25"/>
          <p:cNvSpPr txBox="1"/>
          <p:nvPr/>
        </p:nvSpPr>
        <p:spPr>
          <a:xfrm>
            <a:off x="8293608" y="1892807"/>
            <a:ext cx="3191256" cy="3364991"/>
          </a:xfrm>
          <a:prstGeom prst="rect">
            <a:avLst/>
          </a:prstGeom>
          <a:noFill/>
        </p:spPr>
        <p:txBody>
          <a:bodyPr wrap="square" lIns="0" tIns="0">
            <a:spAutoFit/>
          </a:bodyPr>
          <a:lstStyle/>
          <a:p>
            <a:pPr>
              <a:spcAft>
                <a:spcPts val="450"/>
              </a:spcAft>
            </a:pPr>
            <a:r>
              <a:rPr sz="1050" b="1">
                <a:solidFill>
                  <a:srgbClr val="10B981"/>
                </a:solidFill>
                <a:latin typeface="Segoe UI"/>
              </a:rPr>
              <a:t>• ISO 27001 Strategies: </a:t>
            </a:r>
            <a:r>
              <a:rPr sz="1050">
                <a:solidFill>
                  <a:srgbClr val="F8FAFC"/>
                </a:solidFill>
                <a:latin typeface="Segoe UI"/>
              </a:rPr>
              <a:t>Mitigate, Accept, Transfer, or Avoid with cost estimates &amp; due dates.</a:t>
            </a:r>
          </a:p>
          <a:p>
            <a:pPr>
              <a:spcAft>
                <a:spcPts val="450"/>
              </a:spcAft>
            </a:pPr>
            <a:r>
              <a:rPr sz="1050" b="1">
                <a:solidFill>
                  <a:srgbClr val="06B6D4"/>
                </a:solidFill>
                <a:latin typeface="Segoe UI"/>
              </a:rPr>
              <a:t>• Automated Transitions: </a:t>
            </a:r>
            <a:r>
              <a:rPr sz="1050">
                <a:solidFill>
                  <a:srgbClr val="F8FAFC"/>
                </a:solidFill>
                <a:latin typeface="Segoe UI"/>
              </a:rPr>
              <a:t>Adding/completing a plan transitions risk from Assessed ➔ Treated ➔ Monitored.</a:t>
            </a:r>
          </a:p>
          <a:p>
            <a:pPr>
              <a:spcAft>
                <a:spcPts val="450"/>
              </a:spcAft>
            </a:pPr>
            <a:r>
              <a:rPr sz="1050" b="1">
                <a:solidFill>
                  <a:srgbClr val="F59E0B"/>
                </a:solidFill>
                <a:latin typeface="Segoe UI"/>
              </a:rPr>
              <a:t>• Proactive Alerts: </a:t>
            </a:r>
            <a:r>
              <a:rPr sz="1050">
                <a:solidFill>
                  <a:srgbClr val="F8FAFC"/>
                </a:solidFill>
                <a:latin typeface="Segoe UI"/>
              </a:rPr>
              <a:t>Dispatches RiskAssignedNotification and daily overdue treatment reminders.</a:t>
            </a:r>
          </a:p>
          <a:p>
            <a:pPr>
              <a:spcAft>
                <a:spcPts val="450"/>
              </a:spcAft>
            </a:pPr>
            <a:r>
              <a:rPr sz="1050" b="1">
                <a:solidFill>
                  <a:srgbClr val="6366F1"/>
                </a:solidFill>
                <a:latin typeface="Segoe UI"/>
              </a:rPr>
              <a:t>• Route Namespace Fix: </a:t>
            </a:r>
            <a:r>
              <a:rPr sz="1050">
                <a:solidFill>
                  <a:srgbClr val="F8FAFC"/>
                </a:solidFill>
                <a:latin typeface="Segoe UI"/>
              </a:rPr>
              <a:t>Cleanly scoped under risks.treatments.* to eliminate route collisions.</a:t>
            </a:r>
          </a:p>
        </p:txBody>
      </p:sp>
      <p:sp>
        <p:nvSpPr>
          <p:cNvPr id="27"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CLOSED-LOOP RISK LIFECYCLE AUTOMATION:  </a:t>
            </a:r>
            <a:r>
              <a:rPr sz="1100" b="0">
                <a:solidFill>
                  <a:srgbClr val="F8FAFC"/>
                </a:solidFill>
                <a:latin typeface="Segoe UI"/>
              </a:rPr>
              <a:t>Creating a treatment plan automatically advances the parent risk status, notifies the assigned risk owner via database and email channels, and feeds directly into the Phase 6 Executive Risk Register report.</a:t>
            </a:r>
          </a:p>
        </p:txBody>
      </p:sp>
      <p:sp>
        <p:nvSpPr>
          <p:cNvPr id="29" name="Rectangle 28"/>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1" name="TextBox 30"/>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5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F59E0B"/>
                </a:solidFill>
                <a:latin typeface="Segoe UI"/>
              </a:defRPr>
            </a:pPr>
            <a:r>
              <a:t>PHASE 4 &amp; 5 • SoA &amp; DMS</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4 &amp; 5: Statement of Applicability (SoA) &amp; Document DMS</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Automate Clause 6.1.3(d) SoA generation with version snapshots and controlled policy lifecycle</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3962399"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28016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66344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15568"/>
            <a:ext cx="5440680" cy="4279392"/>
          </a:xfrm>
          <a:prstGeom prst="roundRect">
            <a:avLst>
              <a:gd name="adj" fmla="val 4000"/>
            </a:avLst>
          </a:prstGeom>
          <a:solidFill>
            <a:srgbClr val="161F33"/>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234440"/>
            <a:ext cx="5029200" cy="320040"/>
          </a:xfrm>
          <a:prstGeom prst="rect">
            <a:avLst/>
          </a:prstGeom>
          <a:noFill/>
        </p:spPr>
        <p:txBody>
          <a:bodyPr wrap="square" lIns="45720" rIns="45720" tIns="27432" bIns="27432">
            <a:spAutoFit/>
          </a:bodyPr>
          <a:lstStyle/>
          <a:p>
            <a:pPr algn="l">
              <a:defRPr sz="1350" b="1">
                <a:solidFill>
                  <a:srgbClr val="F59E0B"/>
                </a:solidFill>
                <a:latin typeface="Segoe UI"/>
              </a:defRPr>
            </a:pPr>
            <a:r>
              <a:t>PHASE 4: STATEMENT OF APPLICABILITY (SoA) ENGINE</a:t>
            </a:r>
          </a:p>
        </p:txBody>
      </p:sp>
      <p:sp>
        <p:nvSpPr>
          <p:cNvPr id="14" name="TextBox 13"/>
          <p:cNvSpPr txBox="1"/>
          <p:nvPr/>
        </p:nvSpPr>
        <p:spPr>
          <a:xfrm>
            <a:off x="713232" y="1600200"/>
            <a:ext cx="5029200" cy="3657600"/>
          </a:xfrm>
          <a:prstGeom prst="rect">
            <a:avLst/>
          </a:prstGeom>
          <a:noFill/>
        </p:spPr>
        <p:txBody>
          <a:bodyPr wrap="square">
            <a:spAutoFit/>
          </a:bodyPr>
          <a:lstStyle/>
          <a:p>
            <a:pPr>
              <a:spcAft>
                <a:spcPts val="550"/>
              </a:spcAft>
            </a:pPr>
            <a:r>
              <a:rPr sz="1100" b="1">
                <a:solidFill>
                  <a:srgbClr val="10B981"/>
                </a:solidFill>
                <a:latin typeface="Segoe UI"/>
              </a:rPr>
              <a:t>One-Click SoA Generation: </a:t>
            </a:r>
            <a:r>
              <a:rPr sz="1100" b="0">
                <a:solidFill>
                  <a:srgbClr val="F8FAFC"/>
                </a:solidFill>
                <a:latin typeface="Segoe UI"/>
              </a:rPr>
              <a:t>StatementOfApplicabilityService maps all assessment responses into formal soa_entries.</a:t>
            </a:r>
          </a:p>
          <a:p>
            <a:pPr>
              <a:spcAft>
                <a:spcPts val="550"/>
              </a:spcAft>
            </a:pPr>
            <a:r>
              <a:rPr sz="1100" b="1">
                <a:solidFill>
                  <a:srgbClr val="06B6D4"/>
                </a:solidFill>
                <a:latin typeface="Segoe UI"/>
              </a:rPr>
              <a:t>Applicability &amp; Exclusion Rationale: </a:t>
            </a:r>
            <a:r>
              <a:rPr sz="1100" b="0">
                <a:solidFill>
                  <a:srgbClr val="F8FAFC"/>
                </a:solidFill>
                <a:latin typeface="Segoe UI"/>
              </a:rPr>
              <a:t>Auto-generates justification text and captures mandatory exclusion_reason for non-applicable controls.</a:t>
            </a:r>
          </a:p>
          <a:p>
            <a:pPr>
              <a:spcAft>
                <a:spcPts val="550"/>
              </a:spcAft>
            </a:pPr>
            <a:r>
              <a:rPr sz="1100" b="1">
                <a:solidFill>
                  <a:srgbClr val="F59E0B"/>
                </a:solidFill>
                <a:latin typeface="Segoe UI"/>
              </a:rPr>
              <a:t>Single &amp; Bulk Approval Workflow: </a:t>
            </a:r>
            <a:r>
              <a:rPr sz="1100" b="0">
                <a:solidFill>
                  <a:srgbClr val="F8FAFC"/>
                </a:solidFill>
                <a:latin typeface="Segoe UI"/>
              </a:rPr>
              <a:t>Authorized leads can approve individual control entries or bulk-approve the entire SoA with audit timestamps.</a:t>
            </a:r>
          </a:p>
          <a:p>
            <a:pPr>
              <a:spcAft>
                <a:spcPts val="550"/>
              </a:spcAft>
            </a:pPr>
            <a:r>
              <a:rPr sz="1100" b="1">
                <a:solidFill>
                  <a:srgbClr val="8B95F6"/>
                </a:solidFill>
                <a:latin typeface="Segoe UI"/>
              </a:rPr>
              <a:t>Immutable Version Snapshots (soa_versions): </a:t>
            </a:r>
            <a:r>
              <a:rPr sz="1100" b="0">
                <a:solidFill>
                  <a:srgbClr val="F8FAFC"/>
                </a:solidFill>
                <a:latin typeface="Segoe UI"/>
              </a:rPr>
              <a:t>Stores complete JSON data_snapshot payloads (e.g., v1.0, v2.0) and provides a side-by-side Version Comparison diff view.</a:t>
            </a:r>
          </a:p>
          <a:p>
            <a:pPr>
              <a:spcAft>
                <a:spcPts val="550"/>
              </a:spcAft>
            </a:pPr>
            <a:r>
              <a:rPr sz="1100" b="1">
                <a:solidFill>
                  <a:srgbClr val="F8FAFC"/>
                </a:solidFill>
                <a:latin typeface="Segoe UI"/>
              </a:rPr>
              <a:t>Audit-Ready Exports: </a:t>
            </a:r>
            <a:r>
              <a:rPr sz="1100" b="0">
                <a:solidFill>
                  <a:srgbClr val="F8FAFC"/>
                </a:solidFill>
                <a:latin typeface="Segoe UI"/>
              </a:rPr>
              <a:t>Generates formatted SoA PDF documents (DomPDF) and multi-sheet Excel workbooks (Maatwebsite).</a:t>
            </a:r>
          </a:p>
        </p:txBody>
      </p:sp>
      <p:sp>
        <p:nvSpPr>
          <p:cNvPr id="15" name="!!secondary_card"/>
          <p:cNvSpPr/>
          <p:nvPr/>
        </p:nvSpPr>
        <p:spPr>
          <a:xfrm>
            <a:off x="6172200" y="1115568"/>
            <a:ext cx="5516575" cy="4279392"/>
          </a:xfrm>
          <a:prstGeom prst="roundRect">
            <a:avLst>
              <a:gd name="adj" fmla="val 4000"/>
            </a:avLst>
          </a:prstGeom>
          <a:solidFill>
            <a:srgbClr val="161F33"/>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234440"/>
            <a:ext cx="5120640" cy="320040"/>
          </a:xfrm>
          <a:prstGeom prst="rect">
            <a:avLst/>
          </a:prstGeom>
          <a:noFill/>
        </p:spPr>
        <p:txBody>
          <a:bodyPr wrap="square" lIns="45720" rIns="45720" tIns="27432" bIns="27432">
            <a:spAutoFit/>
          </a:bodyPr>
          <a:lstStyle/>
          <a:p>
            <a:pPr algn="l">
              <a:defRPr sz="1350" b="1">
                <a:solidFill>
                  <a:srgbClr val="06B6D4"/>
                </a:solidFill>
                <a:latin typeface="Segoe UI"/>
              </a:defRPr>
            </a:pPr>
            <a:r>
              <a:t>PHASE 5: DOCUMENT MANAGEMENT SYSTEM (DMS)</a:t>
            </a:r>
          </a:p>
        </p:txBody>
      </p:sp>
      <p:sp>
        <p:nvSpPr>
          <p:cNvPr id="17" name="TextBox 16"/>
          <p:cNvSpPr txBox="1"/>
          <p:nvPr/>
        </p:nvSpPr>
        <p:spPr>
          <a:xfrm>
            <a:off x="6382512" y="1600200"/>
            <a:ext cx="5120640" cy="3657600"/>
          </a:xfrm>
          <a:prstGeom prst="rect">
            <a:avLst/>
          </a:prstGeom>
          <a:noFill/>
        </p:spPr>
        <p:txBody>
          <a:bodyPr wrap="square">
            <a:spAutoFit/>
          </a:bodyPr>
          <a:lstStyle/>
          <a:p>
            <a:pPr>
              <a:spcAft>
                <a:spcPts val="550"/>
              </a:spcAft>
            </a:pPr>
            <a:r>
              <a:rPr sz="1100" b="1">
                <a:solidFill>
                  <a:srgbClr val="10B981"/>
                </a:solidFill>
                <a:latin typeface="Segoe UI"/>
              </a:rPr>
              <a:t>Centralized ISMS Repository: </a:t>
            </a:r>
            <a:r>
              <a:rPr sz="1100" b="0">
                <a:solidFill>
                  <a:srgbClr val="F8FAFC"/>
                </a:solidFill>
                <a:latin typeface="Segoe UI"/>
              </a:rPr>
              <a:t>Manages Policies, Procedures, Records, Templates, and Evidence across tenant-isolated directories.</a:t>
            </a:r>
          </a:p>
          <a:p>
            <a:pPr>
              <a:spcAft>
                <a:spcPts val="550"/>
              </a:spcAft>
            </a:pPr>
            <a:r>
              <a:rPr sz="1100" b="1">
                <a:solidFill>
                  <a:srgbClr val="06B6D4"/>
                </a:solidFill>
                <a:latin typeface="Segoe UI"/>
              </a:rPr>
              <a:t>Semantic Version Control (document_versions): </a:t>
            </a:r>
            <a:r>
              <a:rPr sz="1100" b="0">
                <a:solidFill>
                  <a:srgbClr val="F8FAFC"/>
                </a:solidFill>
                <a:latin typeface="Segoe UI"/>
              </a:rPr>
              <a:t>Tracks full file history (v1.0 ➔ v1.1 ➔ v2.0) with change logs and creator attribution.</a:t>
            </a:r>
          </a:p>
          <a:p>
            <a:pPr>
              <a:spcAft>
                <a:spcPts val="550"/>
              </a:spcAft>
            </a:pPr>
            <a:r>
              <a:rPr sz="1100" b="1">
                <a:solidFill>
                  <a:srgbClr val="F59E0B"/>
                </a:solidFill>
                <a:latin typeface="Segoe UI"/>
              </a:rPr>
              <a:t>Peer Review &amp; Approval Workflow: </a:t>
            </a:r>
            <a:r>
              <a:rPr sz="1100" b="0">
                <a:solidFill>
                  <a:srgbClr val="F8FAFC"/>
                </a:solidFill>
                <a:latin typeface="Segoe UI"/>
              </a:rPr>
              <a:t>Draft ➔ Under Review ➔ Approved ➔ Archived lifecycle via document_reviews (Approve, Reject, Request Changes).</a:t>
            </a:r>
          </a:p>
          <a:p>
            <a:pPr>
              <a:spcAft>
                <a:spcPts val="550"/>
              </a:spcAft>
            </a:pPr>
            <a:r>
              <a:rPr sz="1100" b="1">
                <a:solidFill>
                  <a:srgbClr val="6366F1"/>
                </a:solidFill>
                <a:latin typeface="Segoe UI"/>
              </a:rPr>
              <a:t>Control Mapping (document_control_map): </a:t>
            </a:r>
            <a:r>
              <a:rPr sz="1100" b="0">
                <a:solidFill>
                  <a:srgbClr val="F8FAFC"/>
                </a:solidFill>
                <a:latin typeface="Segoe UI"/>
              </a:rPr>
              <a:t>Many-to-many pivot linking approved policies directly to ISO 27001 controls as audit evidence.</a:t>
            </a:r>
          </a:p>
          <a:p>
            <a:pPr>
              <a:spcAft>
                <a:spcPts val="550"/>
              </a:spcAft>
            </a:pPr>
            <a:r>
              <a:rPr sz="1100" b="1">
                <a:solidFill>
                  <a:srgbClr val="F8FAFC"/>
                </a:solidFill>
                <a:latin typeface="Segoe UI"/>
              </a:rPr>
              <a:t>Pre-Seeded Policy Library: </a:t>
            </a:r>
            <a:r>
              <a:rPr sz="1100" b="0">
                <a:solidFill>
                  <a:srgbClr val="F8FAFC"/>
                </a:solidFill>
                <a:latin typeface="Segoe UI"/>
              </a:rPr>
              <a:t>Includes 10 core templates (InfoSec Policy, Access Control, Incident Response, BCP, Backup Policy).</a:t>
            </a:r>
          </a:p>
        </p:txBody>
      </p:sp>
      <p:sp>
        <p:nvSpPr>
          <p:cNvPr id="18"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ISO 27001 CLAUSE 6.1.3(d) &amp; CLAUSE 7.5 COMPLIANCE:  </a:t>
            </a:r>
            <a:r>
              <a:rPr sz="1100" b="0">
                <a:solidFill>
                  <a:srgbClr val="F8FAFC"/>
                </a:solidFill>
                <a:latin typeface="Segoe UI"/>
              </a:rPr>
              <a:t>The SoA module fulfills Clause 6.1.3(d) by documenting control applicability and justifications, while the DMS satisfies Clause 7.5 (Documented Information) through strict version history and approval records.</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6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6366F1"/>
                </a:solidFill>
                <a:latin typeface="Segoe UI"/>
              </a:defRPr>
            </a:pPr>
            <a:r>
              <a:t>PHASE 6 &amp; 7 • ANALYTICS</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6 &amp; 7: Executive Analytics, Strategy Pattern Reports &amp; Jobs</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Deliver real-time Chart.js telemetry, extensible multi-format reporting, and automated background jobs</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4654295"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secondary_card"/>
          <p:cNvSpPr/>
          <p:nvPr/>
        </p:nvSpPr>
        <p:spPr>
          <a:xfrm>
            <a:off x="50292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143000"/>
            <a:ext cx="3291840"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325880"/>
            <a:ext cx="438912" cy="438912"/>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15" name="TextBox 14"/>
          <p:cNvSpPr txBox="1"/>
          <p:nvPr/>
        </p:nvSpPr>
        <p:spPr>
          <a:xfrm>
            <a:off x="123444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Executive Chart.js Telemetry</a:t>
            </a:r>
          </a:p>
        </p:txBody>
      </p:sp>
      <p:sp>
        <p:nvSpPr>
          <p:cNvPr id="16" name="TextBox 15"/>
          <p:cNvSpPr txBox="1"/>
          <p:nvPr/>
        </p:nvSpPr>
        <p:spPr>
          <a:xfrm>
            <a:off x="70408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5 Live Chart.js Visuals: </a:t>
            </a:r>
            <a:r>
              <a:rPr sz="1050">
                <a:solidFill>
                  <a:srgbClr val="F8FAFC"/>
                </a:solidFill>
                <a:latin typeface="Segoe UI"/>
              </a:rPr>
              <a:t>Domain Compliance Bar, Maturity Pie, Risk Doughnut, Document Doughnut &amp; 12-Month Trend Line.</a:t>
            </a:r>
          </a:p>
          <a:p>
            <a:pPr>
              <a:spcAft>
                <a:spcPts val="450"/>
              </a:spcAft>
            </a:pPr>
            <a:r>
              <a:rPr sz="1050" b="1">
                <a:solidFill>
                  <a:srgbClr val="06B6D4"/>
                </a:solidFill>
                <a:latin typeface="Segoe UI"/>
              </a:rPr>
              <a:t>• JSON Metrics Endpoint: </a:t>
            </a:r>
            <a:r>
              <a:rPr sz="1050">
                <a:solidFill>
                  <a:srgbClr val="F8FAFC"/>
                </a:solidFill>
                <a:latin typeface="Segoe UI"/>
              </a:rPr>
              <a:t>Asynchronous /dashboard/metrics endpoint powered by DashboardService.</a:t>
            </a:r>
          </a:p>
          <a:p>
            <a:pPr>
              <a:spcAft>
                <a:spcPts val="450"/>
              </a:spcAft>
            </a:pPr>
            <a:r>
              <a:rPr sz="1050" b="1">
                <a:solidFill>
                  <a:srgbClr val="F59E0B"/>
                </a:solidFill>
                <a:latin typeface="Segoe UI"/>
              </a:rPr>
              <a:t>• Daily Compliance Snapshots: </a:t>
            </a:r>
            <a:r>
              <a:rPr sz="1050">
                <a:solidFill>
                  <a:srgbClr val="F8FAFC"/>
                </a:solidFill>
                <a:latin typeface="Segoe UI"/>
              </a:rPr>
              <a:t>report_snapshots table enforces unique(tenant_id, report_type, snapshot_date).</a:t>
            </a:r>
          </a:p>
          <a:p>
            <a:pPr>
              <a:spcAft>
                <a:spcPts val="450"/>
              </a:spcAft>
            </a:pPr>
            <a:r>
              <a:rPr sz="1050" b="1">
                <a:solidFill>
                  <a:srgbClr val="8B95F6"/>
                </a:solidFill>
                <a:latin typeface="Segoe UI"/>
              </a:rPr>
              <a:t>• Defensive Repository: </a:t>
            </a:r>
            <a:r>
              <a:rPr sz="1050">
                <a:solidFill>
                  <a:srgbClr val="F8FAFC"/>
                </a:solidFill>
                <a:latin typeface="Segoe UI"/>
              </a:rPr>
              <a:t>ReportRepository gracefully handles missing optional models without crashing.</a:t>
            </a:r>
          </a:p>
        </p:txBody>
      </p:sp>
      <p:sp>
        <p:nvSpPr>
          <p:cNvPr id="17" name="!!focus_card"/>
          <p:cNvSpPr/>
          <p:nvPr/>
        </p:nvSpPr>
        <p:spPr>
          <a:xfrm>
            <a:off x="429768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1143000"/>
            <a:ext cx="329184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8848" y="1325880"/>
            <a:ext cx="438912" cy="438912"/>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0" name="TextBox 19"/>
          <p:cNvSpPr txBox="1"/>
          <p:nvPr/>
        </p:nvSpPr>
        <p:spPr>
          <a:xfrm>
            <a:off x="502920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Strategy Pattern Reports</a:t>
            </a:r>
          </a:p>
        </p:txBody>
      </p:sp>
      <p:sp>
        <p:nvSpPr>
          <p:cNvPr id="21" name="TextBox 20"/>
          <p:cNvSpPr txBox="1"/>
          <p:nvPr/>
        </p:nvSpPr>
        <p:spPr>
          <a:xfrm>
            <a:off x="449884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ReportRegistry Engine: </a:t>
            </a:r>
            <a:r>
              <a:rPr sz="1050">
                <a:solidFill>
                  <a:srgbClr val="F8FAFC"/>
                </a:solidFill>
                <a:latin typeface="Segoe UI"/>
              </a:rPr>
              <a:t>Clean Strategy Pattern implementing ReportInterface &amp; AbstractReport.</a:t>
            </a:r>
          </a:p>
          <a:p>
            <a:pPr>
              <a:spcAft>
                <a:spcPts val="450"/>
              </a:spcAft>
            </a:pPr>
            <a:r>
              <a:rPr sz="1050" b="1">
                <a:solidFill>
                  <a:srgbClr val="06B6D4"/>
                </a:solidFill>
                <a:latin typeface="Segoe UI"/>
              </a:rPr>
              <a:t>• 6 Enterprise Report Types: </a:t>
            </a:r>
            <a:r>
              <a:rPr sz="1050">
                <a:solidFill>
                  <a:srgbClr val="F8FAFC"/>
                </a:solidFill>
                <a:latin typeface="Segoe UI"/>
              </a:rPr>
              <a:t>Executive Summary, Gap Analysis, Risk Register, SoA Status, Document Compliance &amp; Asset Inventory.</a:t>
            </a:r>
          </a:p>
          <a:p>
            <a:pPr>
              <a:spcAft>
                <a:spcPts val="450"/>
              </a:spcAft>
            </a:pPr>
            <a:r>
              <a:rPr sz="1050" b="1">
                <a:solidFill>
                  <a:srgbClr val="F59E0B"/>
                </a:solidFill>
                <a:latin typeface="Segoe UI"/>
              </a:rPr>
              <a:t>• 3 Export Formats: </a:t>
            </a:r>
            <a:r>
              <a:rPr sz="1050">
                <a:solidFill>
                  <a:srgbClr val="F8FAFC"/>
                </a:solidFill>
                <a:latin typeface="Segoe UI"/>
              </a:rPr>
              <a:t>Native Streaming CSV, Branded DomPDF, and Maatwebsite XLSX.</a:t>
            </a:r>
          </a:p>
          <a:p>
            <a:pPr>
              <a:spcAft>
                <a:spcPts val="450"/>
              </a:spcAft>
            </a:pPr>
            <a:r>
              <a:rPr sz="1050" b="1">
                <a:solidFill>
                  <a:srgbClr val="6366F1"/>
                </a:solidFill>
                <a:latin typeface="Segoe UI"/>
              </a:rPr>
              <a:t>• Export Audit Log: </a:t>
            </a:r>
            <a:r>
              <a:rPr sz="1050">
                <a:solidFill>
                  <a:srgbClr val="F8FAFC"/>
                </a:solidFill>
                <a:latin typeface="Segoe UI"/>
              </a:rPr>
              <a:t>Every generated report is recorded in generated_reports with user &amp; timestamp.</a:t>
            </a:r>
          </a:p>
        </p:txBody>
      </p:sp>
      <p:sp>
        <p:nvSpPr>
          <p:cNvPr id="22" name="Rounded Rectangle 21"/>
          <p:cNvSpPr/>
          <p:nvPr/>
        </p:nvSpPr>
        <p:spPr>
          <a:xfrm>
            <a:off x="8092440" y="1143000"/>
            <a:ext cx="3593592"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1143000"/>
            <a:ext cx="3319272"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93608" y="1325880"/>
            <a:ext cx="438912" cy="438912"/>
          </a:xfrm>
          <a:prstGeom prst="roundRect">
            <a:avLst>
              <a:gd name="adj" fmla="val 22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5" name="TextBox 24"/>
          <p:cNvSpPr txBox="1"/>
          <p:nvPr/>
        </p:nvSpPr>
        <p:spPr>
          <a:xfrm>
            <a:off x="8823960" y="1362456"/>
            <a:ext cx="2724912" cy="365760"/>
          </a:xfrm>
          <a:prstGeom prst="rect">
            <a:avLst/>
          </a:prstGeom>
          <a:noFill/>
        </p:spPr>
        <p:txBody>
          <a:bodyPr wrap="square" lIns="45720" rIns="45720" tIns="27432" bIns="27432">
            <a:spAutoFit/>
          </a:bodyPr>
          <a:lstStyle/>
          <a:p>
            <a:pPr algn="l">
              <a:defRPr sz="1350" b="1">
                <a:solidFill>
                  <a:srgbClr val="F8FAFC"/>
                </a:solidFill>
                <a:latin typeface="Segoe UI"/>
              </a:defRPr>
            </a:pPr>
            <a:r>
              <a:t>Scheduled Jobs &amp; Alerts</a:t>
            </a:r>
          </a:p>
        </p:txBody>
      </p:sp>
      <p:sp>
        <p:nvSpPr>
          <p:cNvPr id="26" name="TextBox 25"/>
          <p:cNvSpPr txBox="1"/>
          <p:nvPr/>
        </p:nvSpPr>
        <p:spPr>
          <a:xfrm>
            <a:off x="8293608" y="1892807"/>
            <a:ext cx="3191256" cy="3364991"/>
          </a:xfrm>
          <a:prstGeom prst="rect">
            <a:avLst/>
          </a:prstGeom>
          <a:noFill/>
        </p:spPr>
        <p:txBody>
          <a:bodyPr wrap="square" lIns="0" tIns="0">
            <a:spAutoFit/>
          </a:bodyPr>
          <a:lstStyle/>
          <a:p>
            <a:pPr>
              <a:spcAft>
                <a:spcPts val="450"/>
              </a:spcAft>
            </a:pPr>
            <a:r>
              <a:rPr sz="1050" b="1">
                <a:solidFill>
                  <a:srgbClr val="06B6D4"/>
                </a:solidFill>
                <a:latin typeface="Segoe UI"/>
              </a:rPr>
              <a:t>• SnapshotComplianceScoreJob: </a:t>
            </a:r>
            <a:r>
              <a:rPr sz="1050">
                <a:solidFill>
                  <a:srgbClr val="F8FAFC"/>
                </a:solidFill>
                <a:latin typeface="Segoe UI"/>
              </a:rPr>
              <a:t>Runs daily at 02:00 to record tenant compliance posture.</a:t>
            </a:r>
          </a:p>
          <a:p>
            <a:pPr>
              <a:spcAft>
                <a:spcPts val="450"/>
              </a:spcAft>
            </a:pPr>
            <a:r>
              <a:rPr sz="1050" b="1">
                <a:solidFill>
                  <a:srgbClr val="EF4444"/>
                </a:solidFill>
                <a:latin typeface="Segoe UI"/>
              </a:rPr>
              <a:t>• SendTreatmentDueRemindersJob: </a:t>
            </a:r>
            <a:r>
              <a:rPr sz="1050">
                <a:solidFill>
                  <a:srgbClr val="F8FAFC"/>
                </a:solidFill>
                <a:latin typeface="Segoe UI"/>
              </a:rPr>
              <a:t>Runs daily at 08:00 to alert owners of upcoming/overdue risk plans.</a:t>
            </a:r>
          </a:p>
          <a:p>
            <a:pPr>
              <a:spcAft>
                <a:spcPts val="450"/>
              </a:spcAft>
            </a:pPr>
            <a:r>
              <a:rPr sz="1050" b="1">
                <a:solidFill>
                  <a:srgbClr val="F59E0B"/>
                </a:solidFill>
                <a:latin typeface="Segoe UI"/>
              </a:rPr>
              <a:t>• PruneReportSnapshotsJob: </a:t>
            </a:r>
            <a:r>
              <a:rPr sz="1050">
                <a:solidFill>
                  <a:srgbClr val="F8FAFC"/>
                </a:solidFill>
                <a:latin typeface="Segoe UI"/>
              </a:rPr>
              <a:t>Runs weekly on Sundays to enforce a clean 24-month retention window.</a:t>
            </a:r>
          </a:p>
          <a:p>
            <a:pPr>
              <a:spcAft>
                <a:spcPts val="450"/>
              </a:spcAft>
            </a:pPr>
            <a:r>
              <a:rPr sz="1050" b="1">
                <a:solidFill>
                  <a:srgbClr val="10B981"/>
                </a:solidFill>
                <a:latin typeface="Segoe UI"/>
              </a:rPr>
              <a:t>• In-App Notification Center: </a:t>
            </a:r>
            <a:r>
              <a:rPr sz="1050">
                <a:solidFill>
                  <a:srgbClr val="F8FAFC"/>
                </a:solidFill>
                <a:latin typeface="Segoe UI"/>
              </a:rPr>
              <a:t>Full /notifications UI with unread counters, mark-read, and mark-all-read.</a:t>
            </a:r>
          </a:p>
        </p:txBody>
      </p:sp>
      <p:sp>
        <p:nvSpPr>
          <p:cNvPr id="27"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OPEN-CLOSED PRINCIPLE VIA REPORT REGISTRY (STRATEGY PATTERN):  </a:t>
            </a:r>
            <a:r>
              <a:rPr sz="1100" b="0">
                <a:solidFill>
                  <a:srgbClr val="F8FAFC"/>
                </a:solidFill>
                <a:latin typeface="Segoe UI"/>
              </a:rPr>
              <a:t>Adding a new compliance report requires zero modifications to ReportController or ExportService—developers simply create a class extending AbstractReport and register its key in ReportRegistry.</a:t>
            </a:r>
          </a:p>
        </p:txBody>
      </p:sp>
      <p:sp>
        <p:nvSpPr>
          <p:cNvPr id="29" name="Rectangle 28"/>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1" name="TextBox 30"/>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7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10B981"/>
                </a:solidFill>
                <a:latin typeface="Segoe UI"/>
              </a:defRPr>
            </a:pPr>
            <a:r>
              <a:t>PHASE 8 • UI &amp; SECURITY</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Phase 8: Enterprise UI/UX Overhaul, Security Hardening &amp; Go-Live</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Objective: Transform UI into a Vanta/Drata-grade SaaS, enforce strict Policy RBAC, and deploy to live HTTPS</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5346191"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228600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347472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secondary_card"/>
          <p:cNvSpPr/>
          <p:nvPr/>
        </p:nvSpPr>
        <p:spPr>
          <a:xfrm>
            <a:off x="50292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143000"/>
            <a:ext cx="3291840"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325880"/>
            <a:ext cx="438912" cy="438912"/>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15" name="TextBox 14"/>
          <p:cNvSpPr txBox="1"/>
          <p:nvPr/>
        </p:nvSpPr>
        <p:spPr>
          <a:xfrm>
            <a:off x="123444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Vanta/Drata SaaS UI System</a:t>
            </a:r>
          </a:p>
        </p:txBody>
      </p:sp>
      <p:sp>
        <p:nvSpPr>
          <p:cNvPr id="16" name="TextBox 15"/>
          <p:cNvSpPr txBox="1"/>
          <p:nvPr/>
        </p:nvSpPr>
        <p:spPr>
          <a:xfrm>
            <a:off x="704088" y="1892807"/>
            <a:ext cx="3163824" cy="3364991"/>
          </a:xfrm>
          <a:prstGeom prst="rect">
            <a:avLst/>
          </a:prstGeom>
          <a:noFill/>
        </p:spPr>
        <p:txBody>
          <a:bodyPr wrap="square" lIns="0" tIns="0">
            <a:spAutoFit/>
          </a:bodyPr>
          <a:lstStyle/>
          <a:p>
            <a:pPr>
              <a:spcAft>
                <a:spcPts val="450"/>
              </a:spcAft>
            </a:pPr>
            <a:r>
              <a:rPr sz="1050" b="1">
                <a:solidFill>
                  <a:srgbClr val="6366F1"/>
                </a:solidFill>
                <a:latin typeface="Segoe UI"/>
              </a:rPr>
              <a:t>• 25+ Views Redesigned: </a:t>
            </a:r>
            <a:r>
              <a:rPr sz="1050">
                <a:solidFill>
                  <a:srgbClr val="F8FAFC"/>
                </a:solidFill>
                <a:latin typeface="Segoe UI"/>
              </a:rPr>
              <a:t>Modern Indigo (#4F46E5) &amp; Slate design system with Inter + JetBrains Mono.</a:t>
            </a:r>
          </a:p>
          <a:p>
            <a:pPr>
              <a:spcAft>
                <a:spcPts val="450"/>
              </a:spcAft>
            </a:pPr>
            <a:r>
              <a:rPr sz="1050" b="1">
                <a:solidFill>
                  <a:srgbClr val="06B6D4"/>
                </a:solidFill>
                <a:latin typeface="Segoe UI"/>
              </a:rPr>
              <a:t>• Split-Screen Auth &amp; Dark Mode: </a:t>
            </a:r>
            <a:r>
              <a:rPr sz="1050">
                <a:solidFill>
                  <a:srgbClr val="F8FAFC"/>
                </a:solidFill>
                <a:latin typeface="Segoe UI"/>
              </a:rPr>
              <a:t>Glassmorphism login/register with twinkling stars and Light/Dark toggle.</a:t>
            </a:r>
          </a:p>
          <a:p>
            <a:pPr>
              <a:spcAft>
                <a:spcPts val="450"/>
              </a:spcAft>
            </a:pPr>
            <a:r>
              <a:rPr sz="1050" b="1">
                <a:solidFill>
                  <a:srgbClr val="10B981"/>
                </a:solidFill>
                <a:latin typeface="Segoe UI"/>
              </a:rPr>
              <a:t>• Responsive Navigation: </a:t>
            </a:r>
            <a:r>
              <a:rPr sz="1050">
                <a:solidFill>
                  <a:srgbClr val="F8FAFC"/>
                </a:solidFill>
                <a:latin typeface="Segoe UI"/>
              </a:rPr>
              <a:t>Collapsible desktop sidebar and mobile drawer menu with user topbar.</a:t>
            </a:r>
          </a:p>
          <a:p>
            <a:pPr>
              <a:spcAft>
                <a:spcPts val="450"/>
              </a:spcAft>
            </a:pPr>
            <a:r>
              <a:rPr sz="1050" b="1">
                <a:solidFill>
                  <a:srgbClr val="F59E0B"/>
                </a:solidFill>
                <a:latin typeface="Segoe UI"/>
              </a:rPr>
              <a:t>• Bento Grid &amp; Data Tables: </a:t>
            </a:r>
            <a:r>
              <a:rPr sz="1050">
                <a:solidFill>
                  <a:srgbClr val="F8FAFC"/>
                </a:solidFill>
                <a:latin typeface="Segoe UI"/>
              </a:rPr>
              <a:t>Color-coded status badges, hover actions, and sectioned forms.</a:t>
            </a:r>
          </a:p>
        </p:txBody>
      </p:sp>
      <p:sp>
        <p:nvSpPr>
          <p:cNvPr id="17" name="!!focus_card"/>
          <p:cNvSpPr/>
          <p:nvPr/>
        </p:nvSpPr>
        <p:spPr>
          <a:xfrm>
            <a:off x="429768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1143000"/>
            <a:ext cx="3291840" cy="4572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8848" y="1325880"/>
            <a:ext cx="438912" cy="438912"/>
          </a:xfrm>
          <a:prstGeom prst="roundRect">
            <a:avLst>
              <a:gd name="adj" fmla="val 22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0" name="TextBox 19"/>
          <p:cNvSpPr txBox="1"/>
          <p:nvPr/>
        </p:nvSpPr>
        <p:spPr>
          <a:xfrm>
            <a:off x="502920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RBAC &amp; Security Hardening</a:t>
            </a:r>
          </a:p>
        </p:txBody>
      </p:sp>
      <p:sp>
        <p:nvSpPr>
          <p:cNvPr id="21" name="TextBox 20"/>
          <p:cNvSpPr txBox="1"/>
          <p:nvPr/>
        </p:nvSpPr>
        <p:spPr>
          <a:xfrm>
            <a:off x="4498848" y="1892807"/>
            <a:ext cx="3163824" cy="3364991"/>
          </a:xfrm>
          <a:prstGeom prst="rect">
            <a:avLst/>
          </a:prstGeom>
          <a:noFill/>
        </p:spPr>
        <p:txBody>
          <a:bodyPr wrap="square" lIns="0" tIns="0">
            <a:spAutoFit/>
          </a:bodyPr>
          <a:lstStyle/>
          <a:p>
            <a:pPr>
              <a:spcAft>
                <a:spcPts val="450"/>
              </a:spcAft>
            </a:pPr>
            <a:r>
              <a:rPr sz="1050" b="1">
                <a:solidFill>
                  <a:srgbClr val="EF4444"/>
                </a:solidFill>
                <a:latin typeface="Segoe UI"/>
              </a:rPr>
              <a:t>• Policy Authorization: </a:t>
            </a:r>
            <a:r>
              <a:rPr sz="1050">
                <a:solidFill>
                  <a:srgbClr val="F8FAFC"/>
                </a:solidFill>
                <a:latin typeface="Segoe UI"/>
              </a:rPr>
              <a:t>AssetPolicy &amp; RiskPolicy block 'viewer' users from mutating data (403 Forbidden).</a:t>
            </a:r>
          </a:p>
          <a:p>
            <a:pPr>
              <a:spcAft>
                <a:spcPts val="450"/>
              </a:spcAft>
            </a:pPr>
            <a:r>
              <a:rPr sz="1050" b="1">
                <a:solidFill>
                  <a:srgbClr val="10B981"/>
                </a:solidFill>
                <a:latin typeface="Segoe UI"/>
              </a:rPr>
              <a:t>• Route Guard Audit: </a:t>
            </a:r>
            <a:r>
              <a:rPr sz="1050">
                <a:solidFill>
                  <a:srgbClr val="F8FAFC"/>
                </a:solidFill>
                <a:latin typeface="Segoe UI"/>
              </a:rPr>
              <a:t>Moved /reports and /soa routes inside auth + tenant.selected middleware.</a:t>
            </a:r>
          </a:p>
          <a:p>
            <a:pPr>
              <a:spcAft>
                <a:spcPts val="450"/>
              </a:spcAft>
            </a:pPr>
            <a:r>
              <a:rPr sz="1050" b="1">
                <a:solidFill>
                  <a:srgbClr val="F59E0B"/>
                </a:solidFill>
                <a:latin typeface="Segoe UI"/>
              </a:rPr>
              <a:t>• IDOR Prevention: </a:t>
            </a:r>
            <a:r>
              <a:rPr sz="1050">
                <a:solidFill>
                  <a:srgbClr val="F8FAFC"/>
                </a:solidFill>
                <a:latin typeface="Segoe UI"/>
              </a:rPr>
              <a:t>Cross-tenant direct URL tampering strictly returns 404/403.</a:t>
            </a:r>
          </a:p>
          <a:p>
            <a:pPr>
              <a:spcAft>
                <a:spcPts val="450"/>
              </a:spcAft>
            </a:pPr>
            <a:r>
              <a:rPr sz="1050" b="1">
                <a:solidFill>
                  <a:srgbClr val="06B6D4"/>
                </a:solidFill>
                <a:latin typeface="Segoe UI"/>
              </a:rPr>
              <a:t>• POST Logout &amp; CSRF: </a:t>
            </a:r>
            <a:r>
              <a:rPr sz="1050">
                <a:solidFill>
                  <a:srgbClr val="F8FAFC"/>
                </a:solidFill>
                <a:latin typeface="Segoe UI"/>
              </a:rPr>
              <a:t>Converted GET logout links into @csrf POST forms to prevent CSRF logout traps.</a:t>
            </a:r>
          </a:p>
        </p:txBody>
      </p:sp>
      <p:sp>
        <p:nvSpPr>
          <p:cNvPr id="22" name="Rounded Rectangle 21"/>
          <p:cNvSpPr/>
          <p:nvPr/>
        </p:nvSpPr>
        <p:spPr>
          <a:xfrm>
            <a:off x="8092440" y="1143000"/>
            <a:ext cx="3593592"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1143000"/>
            <a:ext cx="3319272"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93608" y="1325880"/>
            <a:ext cx="438912" cy="438912"/>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5" name="TextBox 24"/>
          <p:cNvSpPr txBox="1"/>
          <p:nvPr/>
        </p:nvSpPr>
        <p:spPr>
          <a:xfrm>
            <a:off x="8823960" y="1362456"/>
            <a:ext cx="2724912" cy="365760"/>
          </a:xfrm>
          <a:prstGeom prst="rect">
            <a:avLst/>
          </a:prstGeom>
          <a:noFill/>
        </p:spPr>
        <p:txBody>
          <a:bodyPr wrap="square" lIns="45720" rIns="45720" tIns="27432" bIns="27432">
            <a:spAutoFit/>
          </a:bodyPr>
          <a:lstStyle/>
          <a:p>
            <a:pPr algn="l">
              <a:defRPr sz="1350" b="1">
                <a:solidFill>
                  <a:srgbClr val="F8FAFC"/>
                </a:solidFill>
                <a:latin typeface="Segoe UI"/>
              </a:defRPr>
            </a:pPr>
            <a:r>
              <a:t>Custom Errors &amp; Live Deploy</a:t>
            </a:r>
          </a:p>
        </p:txBody>
      </p:sp>
      <p:sp>
        <p:nvSpPr>
          <p:cNvPr id="26" name="TextBox 25"/>
          <p:cNvSpPr txBox="1"/>
          <p:nvPr/>
        </p:nvSpPr>
        <p:spPr>
          <a:xfrm>
            <a:off x="8293608" y="1892807"/>
            <a:ext cx="3191256" cy="3364991"/>
          </a:xfrm>
          <a:prstGeom prst="rect">
            <a:avLst/>
          </a:prstGeom>
          <a:noFill/>
        </p:spPr>
        <p:txBody>
          <a:bodyPr wrap="square" lIns="0" tIns="0">
            <a:spAutoFit/>
          </a:bodyPr>
          <a:lstStyle/>
          <a:p>
            <a:pPr>
              <a:spcAft>
                <a:spcPts val="450"/>
              </a:spcAft>
            </a:pPr>
            <a:r>
              <a:rPr sz="1050" b="1">
                <a:solidFill>
                  <a:srgbClr val="F59E0B"/>
                </a:solidFill>
                <a:latin typeface="Segoe UI"/>
              </a:rPr>
              <a:t>• 5 Branded Error Pages: </a:t>
            </a:r>
            <a:r>
              <a:rPr sz="1050">
                <a:solidFill>
                  <a:srgbClr val="F8FAFC"/>
                </a:solidFill>
                <a:latin typeface="Segoe UI"/>
              </a:rPr>
              <a:t>Custom Tailwind views for 403, 404, 419 (CSRF Expired), 500, and 503.</a:t>
            </a:r>
          </a:p>
          <a:p>
            <a:pPr>
              <a:spcAft>
                <a:spcPts val="450"/>
              </a:spcAft>
            </a:pPr>
            <a:r>
              <a:rPr sz="1050" b="1">
                <a:solidFill>
                  <a:srgbClr val="10B981"/>
                </a:solidFill>
                <a:latin typeface="Segoe UI"/>
              </a:rPr>
              <a:t>• Rich Demo Seeders: </a:t>
            </a:r>
            <a:r>
              <a:rPr sz="1050">
                <a:solidFill>
                  <a:srgbClr val="F8FAFC"/>
                </a:solidFill>
                <a:latin typeface="Segoe UI"/>
              </a:rPr>
              <a:t>AssessmentSeeder (115 responses), SoASeeder, DocumentSeeder &amp; NotificationSeeder.</a:t>
            </a:r>
          </a:p>
          <a:p>
            <a:pPr>
              <a:spcAft>
                <a:spcPts val="450"/>
              </a:spcAft>
            </a:pPr>
            <a:r>
              <a:rPr sz="1050" b="1">
                <a:solidFill>
                  <a:srgbClr val="06B6D4"/>
                </a:solidFill>
                <a:latin typeface="Segoe UI"/>
              </a:rPr>
              <a:t>• Production Vite Build: </a:t>
            </a:r>
            <a:r>
              <a:rPr sz="1050">
                <a:solidFill>
                  <a:srgbClr val="F8FAFC"/>
                </a:solidFill>
                <a:latin typeface="Segoe UI"/>
              </a:rPr>
              <a:t>Compiled assets via npm run build and removed public/hot artifact.</a:t>
            </a:r>
          </a:p>
          <a:p>
            <a:pPr>
              <a:spcAft>
                <a:spcPts val="450"/>
              </a:spcAft>
            </a:pPr>
            <a:r>
              <a:rPr sz="1050" b="1">
                <a:solidFill>
                  <a:srgbClr val="8B95F6"/>
                </a:solidFill>
                <a:latin typeface="Segoe UI"/>
              </a:rPr>
              <a:t>• InfinityFree Deployment: </a:t>
            </a:r>
            <a:r>
              <a:rPr sz="1050">
                <a:solidFill>
                  <a:srgbClr val="F8FAFC"/>
                </a:solidFill>
                <a:latin typeface="Segoe UI"/>
              </a:rPr>
              <a:t>Restructured htdocs/ entry point live at ismsaudit.infinityfree.io.</a:t>
            </a:r>
          </a:p>
        </p:txBody>
      </p:sp>
      <p:sp>
        <p:nvSpPr>
          <p:cNvPr id="27"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DEFENSE-IN-DEPTH AUTHORIZATION (MIDDLEWARE + POLICIES + TENANT SCOPE):  </a:t>
            </a:r>
            <a:r>
              <a:rPr sz="1100" b="0">
                <a:solidFill>
                  <a:srgbClr val="F8FAFC"/>
                </a:solidFill>
                <a:latin typeface="Segoe UI"/>
              </a:rPr>
              <a:t>Every request passes through three independent security gates: Route Middleware verifies authentication and tenant context, Policies enforce role permissions (Viewer vs Assessor/Admin), and TenantScope isolates database rows.</a:t>
            </a:r>
          </a:p>
        </p:txBody>
      </p:sp>
      <p:sp>
        <p:nvSpPr>
          <p:cNvPr id="29" name="Rectangle 28"/>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1" name="TextBox 30"/>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8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6366F1"/>
                </a:solidFill>
                <a:latin typeface="Segoe UI"/>
              </a:defRPr>
            </a:pPr>
            <a:r>
              <a:t>LIVE DEMO • UI &amp; TELEMETRY</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Live Prototype: Split-Screen Dark Auth &amp; Executive Dashboard</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Visual verification of Phase 8 glassmorphism authentication and Phase 6 Chart.js telemetry</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6038087"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28016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66344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secondary_card"/>
          <p:cNvSpPr/>
          <p:nvPr/>
        </p:nvSpPr>
        <p:spPr>
          <a:xfrm>
            <a:off x="502920" y="1143000"/>
            <a:ext cx="5440680" cy="4251960"/>
          </a:xfrm>
          <a:prstGeom prst="roundRect">
            <a:avLst>
              <a:gd name="adj" fmla="val 4000"/>
            </a:avLst>
          </a:prstGeom>
          <a:solidFill>
            <a:srgbClr val="161F33"/>
          </a:solidFill>
          <a:ln w="22225">
            <a:solidFill>
              <a:srgbClr val="8B95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3_login_dark.png"/>
          <p:cNvPicPr>
            <a:picLocks noChangeAspect="1"/>
          </p:cNvPicPr>
          <p:nvPr/>
        </p:nvPicPr>
        <p:blipFill>
          <a:blip r:embed="rId3"/>
          <a:stretch>
            <a:fillRect/>
          </a:stretch>
        </p:blipFill>
        <p:spPr>
          <a:xfrm>
            <a:off x="594360" y="1234440"/>
            <a:ext cx="5257800" cy="3867912"/>
          </a:xfrm>
          <a:prstGeom prst="rect">
            <a:avLst/>
          </a:prstGeom>
        </p:spPr>
      </p:pic>
      <p:sp>
        <p:nvSpPr>
          <p:cNvPr id="14" name="TextBox 13"/>
          <p:cNvSpPr txBox="1"/>
          <p:nvPr/>
        </p:nvSpPr>
        <p:spPr>
          <a:xfrm>
            <a:off x="612648" y="5111496"/>
            <a:ext cx="5221224" cy="237744"/>
          </a:xfrm>
          <a:prstGeom prst="rect">
            <a:avLst/>
          </a:prstGeom>
          <a:noFill/>
        </p:spPr>
        <p:txBody>
          <a:bodyPr wrap="square" lIns="45720" rIns="45720" tIns="27432" bIns="27432">
            <a:spAutoFit/>
          </a:bodyPr>
          <a:lstStyle/>
          <a:p>
            <a:pPr algn="ctr">
              <a:defRPr sz="980" b="1">
                <a:solidFill>
                  <a:srgbClr val="94A3B8"/>
                </a:solidFill>
                <a:latin typeface="Segoe UI"/>
              </a:defRPr>
            </a:pPr>
            <a:r>
              <a:t>Split-Screen Dark Mode Login with Glassmorphism &amp; Brand Identity</a:t>
            </a:r>
          </a:p>
        </p:txBody>
      </p:sp>
      <p:sp>
        <p:nvSpPr>
          <p:cNvPr id="15" name="!!focus_card"/>
          <p:cNvSpPr/>
          <p:nvPr/>
        </p:nvSpPr>
        <p:spPr>
          <a:xfrm>
            <a:off x="6217920" y="1143000"/>
            <a:ext cx="5468112" cy="4251960"/>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1_dashboard_overview.png"/>
          <p:cNvPicPr>
            <a:picLocks noChangeAspect="1"/>
          </p:cNvPicPr>
          <p:nvPr/>
        </p:nvPicPr>
        <p:blipFill>
          <a:blip r:embed="rId4"/>
          <a:stretch>
            <a:fillRect/>
          </a:stretch>
        </p:blipFill>
        <p:spPr>
          <a:xfrm>
            <a:off x="6309359" y="1234440"/>
            <a:ext cx="5285232" cy="3867912"/>
          </a:xfrm>
          <a:prstGeom prst="rect">
            <a:avLst/>
          </a:prstGeom>
        </p:spPr>
      </p:pic>
      <p:sp>
        <p:nvSpPr>
          <p:cNvPr id="17" name="TextBox 16"/>
          <p:cNvSpPr txBox="1"/>
          <p:nvPr/>
        </p:nvSpPr>
        <p:spPr>
          <a:xfrm>
            <a:off x="6327648" y="5111496"/>
            <a:ext cx="5248656" cy="237744"/>
          </a:xfrm>
          <a:prstGeom prst="rect">
            <a:avLst/>
          </a:prstGeom>
          <a:noFill/>
        </p:spPr>
        <p:txBody>
          <a:bodyPr wrap="square" lIns="45720" rIns="45720" tIns="27432" bIns="27432">
            <a:spAutoFit/>
          </a:bodyPr>
          <a:lstStyle/>
          <a:p>
            <a:pPr algn="ctr">
              <a:defRPr sz="980" b="1">
                <a:solidFill>
                  <a:srgbClr val="94A3B8"/>
                </a:solidFill>
                <a:latin typeface="Segoe UI"/>
              </a:defRPr>
            </a:pPr>
            <a:r>
              <a:t>Executive Dashboard: 4 KPI Cards, Domain Bar Chart, Risk &amp; Maturity Breakdown</a:t>
            </a:r>
          </a:p>
        </p:txBody>
      </p:sp>
      <p:sp>
        <p:nvSpPr>
          <p:cNvPr id="18"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REAL-TIME COMPLIANCE POSTURE AT A GLANCE:  </a:t>
            </a:r>
            <a:r>
              <a:rPr sz="1100" b="0">
                <a:solidFill>
                  <a:srgbClr val="F8FAFC"/>
                </a:solidFill>
                <a:latin typeface="Segoe UI"/>
              </a:rPr>
              <a:t>The Executive Dashboard aggregates 115 control responses, active risk severities, and document review states into unified KPI cards and responsive Chart.js canvases.</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9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10B981"/>
                </a:solidFill>
                <a:latin typeface="Segoe UI"/>
              </a:defRPr>
            </a:pPr>
            <a:r>
              <a:t>LIVE DEMO • CORE WORKFLOWS</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Live Prototype: ISO Control Evaluation &amp; 5×5 Risk Register</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Visual verification of domain-by-domain control scoring (Phase 2) and risk treatment tracking (Phase 7)</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6729983"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43000"/>
            <a:ext cx="5440680" cy="4251960"/>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3_assessment_conduct.png"/>
          <p:cNvPicPr>
            <a:picLocks noChangeAspect="1"/>
          </p:cNvPicPr>
          <p:nvPr/>
        </p:nvPicPr>
        <p:blipFill>
          <a:blip r:embed="rId3"/>
          <a:stretch>
            <a:fillRect/>
          </a:stretch>
        </p:blipFill>
        <p:spPr>
          <a:xfrm>
            <a:off x="594360" y="1234440"/>
            <a:ext cx="5257800" cy="3867912"/>
          </a:xfrm>
          <a:prstGeom prst="rect">
            <a:avLst/>
          </a:prstGeom>
        </p:spPr>
      </p:pic>
      <p:sp>
        <p:nvSpPr>
          <p:cNvPr id="14" name="TextBox 13"/>
          <p:cNvSpPr txBox="1"/>
          <p:nvPr/>
        </p:nvSpPr>
        <p:spPr>
          <a:xfrm>
            <a:off x="612648" y="5111496"/>
            <a:ext cx="5221224" cy="237744"/>
          </a:xfrm>
          <a:prstGeom prst="rect">
            <a:avLst/>
          </a:prstGeom>
          <a:noFill/>
        </p:spPr>
        <p:txBody>
          <a:bodyPr wrap="square" lIns="45720" rIns="45720" tIns="27432" bIns="27432">
            <a:spAutoFit/>
          </a:bodyPr>
          <a:lstStyle/>
          <a:p>
            <a:pPr algn="ctr">
              <a:defRPr sz="980" b="1">
                <a:solidFill>
                  <a:srgbClr val="94A3B8"/>
                </a:solidFill>
                <a:latin typeface="Segoe UI"/>
              </a:defRPr>
            </a:pPr>
            <a:r>
              <a:t>Control Assessment Interface: Status Badges, 0–5 Maturity &amp; Evidence Notes</a:t>
            </a:r>
          </a:p>
        </p:txBody>
      </p:sp>
      <p:sp>
        <p:nvSpPr>
          <p:cNvPr id="15" name="!!secondary_card"/>
          <p:cNvSpPr/>
          <p:nvPr/>
        </p:nvSpPr>
        <p:spPr>
          <a:xfrm>
            <a:off x="6217920" y="1143000"/>
            <a:ext cx="5468112" cy="4251960"/>
          </a:xfrm>
          <a:prstGeom prst="roundRect">
            <a:avLst>
              <a:gd name="adj" fmla="val 4000"/>
            </a:avLst>
          </a:prstGeom>
          <a:solidFill>
            <a:srgbClr val="161F33"/>
          </a:solidFill>
          <a:ln w="222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1_risk_register_list.png"/>
          <p:cNvPicPr>
            <a:picLocks noChangeAspect="1"/>
          </p:cNvPicPr>
          <p:nvPr/>
        </p:nvPicPr>
        <p:blipFill>
          <a:blip r:embed="rId4"/>
          <a:stretch>
            <a:fillRect/>
          </a:stretch>
        </p:blipFill>
        <p:spPr>
          <a:xfrm>
            <a:off x="6309359" y="1234440"/>
            <a:ext cx="5285232" cy="3867912"/>
          </a:xfrm>
          <a:prstGeom prst="rect">
            <a:avLst/>
          </a:prstGeom>
        </p:spPr>
      </p:pic>
      <p:sp>
        <p:nvSpPr>
          <p:cNvPr id="17" name="TextBox 16"/>
          <p:cNvSpPr txBox="1"/>
          <p:nvPr/>
        </p:nvSpPr>
        <p:spPr>
          <a:xfrm>
            <a:off x="6327648" y="5111496"/>
            <a:ext cx="5248656" cy="237744"/>
          </a:xfrm>
          <a:prstGeom prst="rect">
            <a:avLst/>
          </a:prstGeom>
          <a:noFill/>
        </p:spPr>
        <p:txBody>
          <a:bodyPr wrap="square" lIns="45720" rIns="45720" tIns="27432" bIns="27432">
            <a:spAutoFit/>
          </a:bodyPr>
          <a:lstStyle/>
          <a:p>
            <a:pPr algn="ctr">
              <a:defRPr sz="980" b="1">
                <a:solidFill>
                  <a:srgbClr val="94A3B8"/>
                </a:solidFill>
                <a:latin typeface="Segoe UI"/>
              </a:defRPr>
            </a:pPr>
            <a:r>
              <a:t>Risk Register &amp; 5x5 Heatmap: Likelihood × Impact Scoring &amp; Severity Filtering</a:t>
            </a:r>
          </a:p>
        </p:txBody>
      </p:sp>
      <p:sp>
        <p:nvSpPr>
          <p:cNvPr id="18"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SEAMLESS ASSESSOR UX &amp; RISK TRACEABILITY:  </a:t>
            </a:r>
            <a:r>
              <a:rPr sz="1100" b="0">
                <a:solidFill>
                  <a:srgbClr val="F8FAFC"/>
                </a:solidFill>
                <a:latin typeface="Segoe UI"/>
              </a:rPr>
              <a:t>Assessors evaluate controls domain-by-domain with instant progress bar updates, while risk owners filter high/critical risks directly from the interactive 5×5 severity matrix.</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10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F59E0B"/>
                </a:solidFill>
                <a:latin typeface="Segoe UI"/>
              </a:defRPr>
            </a:pPr>
            <a:r>
              <a:t>LIVE DEMO • AUDIT ARTIFACTS</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Live Prototype: Statement of Applicability (SoA) &amp; Document DMS</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Visual verification of Clause 6.1.3(d) SoA matrix (Phase 4) and versioned policy library (Phase 5)</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7421880"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228600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347472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43000"/>
            <a:ext cx="5440680" cy="4251960"/>
          </a:xfrm>
          <a:prstGeom prst="roundRect">
            <a:avLst>
              <a:gd name="adj" fmla="val 4000"/>
            </a:avLst>
          </a:prstGeom>
          <a:solidFill>
            <a:srgbClr val="161F33"/>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1_soa_matrix.png"/>
          <p:cNvPicPr>
            <a:picLocks noChangeAspect="1"/>
          </p:cNvPicPr>
          <p:nvPr/>
        </p:nvPicPr>
        <p:blipFill>
          <a:blip r:embed="rId3"/>
          <a:stretch>
            <a:fillRect/>
          </a:stretch>
        </p:blipFill>
        <p:spPr>
          <a:xfrm>
            <a:off x="594360" y="1234440"/>
            <a:ext cx="5257800" cy="3867912"/>
          </a:xfrm>
          <a:prstGeom prst="rect">
            <a:avLst/>
          </a:prstGeom>
        </p:spPr>
      </p:pic>
      <p:sp>
        <p:nvSpPr>
          <p:cNvPr id="14" name="TextBox 13"/>
          <p:cNvSpPr txBox="1"/>
          <p:nvPr/>
        </p:nvSpPr>
        <p:spPr>
          <a:xfrm>
            <a:off x="612648" y="5111496"/>
            <a:ext cx="5221224" cy="237744"/>
          </a:xfrm>
          <a:prstGeom prst="rect">
            <a:avLst/>
          </a:prstGeom>
          <a:noFill/>
        </p:spPr>
        <p:txBody>
          <a:bodyPr wrap="square" lIns="45720" rIns="45720" tIns="27432" bIns="27432">
            <a:spAutoFit/>
          </a:bodyPr>
          <a:lstStyle/>
          <a:p>
            <a:pPr algn="ctr">
              <a:defRPr sz="980" b="1">
                <a:solidFill>
                  <a:srgbClr val="94A3B8"/>
                </a:solidFill>
                <a:latin typeface="Segoe UI"/>
              </a:defRPr>
            </a:pPr>
            <a:r>
              <a:t>Statement of Applicability (SoA): Applicability, Justifications &amp; Bulk Approval</a:t>
            </a:r>
          </a:p>
        </p:txBody>
      </p:sp>
      <p:sp>
        <p:nvSpPr>
          <p:cNvPr id="15" name="!!secondary_card"/>
          <p:cNvSpPr/>
          <p:nvPr/>
        </p:nvSpPr>
        <p:spPr>
          <a:xfrm>
            <a:off x="6217920" y="1143000"/>
            <a:ext cx="5468112" cy="4251960"/>
          </a:xfrm>
          <a:prstGeom prst="roundRect">
            <a:avLst>
              <a:gd name="adj" fmla="val 4000"/>
            </a:avLst>
          </a:prstGeom>
          <a:solidFill>
            <a:srgbClr val="161F33"/>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1_document_list.png"/>
          <p:cNvPicPr>
            <a:picLocks noChangeAspect="1"/>
          </p:cNvPicPr>
          <p:nvPr/>
        </p:nvPicPr>
        <p:blipFill>
          <a:blip r:embed="rId4"/>
          <a:stretch>
            <a:fillRect/>
          </a:stretch>
        </p:blipFill>
        <p:spPr>
          <a:xfrm>
            <a:off x="6309359" y="1234440"/>
            <a:ext cx="5285232" cy="3867912"/>
          </a:xfrm>
          <a:prstGeom prst="rect">
            <a:avLst/>
          </a:prstGeom>
        </p:spPr>
      </p:pic>
      <p:sp>
        <p:nvSpPr>
          <p:cNvPr id="17" name="TextBox 16"/>
          <p:cNvSpPr txBox="1"/>
          <p:nvPr/>
        </p:nvSpPr>
        <p:spPr>
          <a:xfrm>
            <a:off x="6327648" y="5111496"/>
            <a:ext cx="5248656" cy="237744"/>
          </a:xfrm>
          <a:prstGeom prst="rect">
            <a:avLst/>
          </a:prstGeom>
          <a:noFill/>
        </p:spPr>
        <p:txBody>
          <a:bodyPr wrap="square" lIns="45720" rIns="45720" tIns="27432" bIns="27432">
            <a:spAutoFit/>
          </a:bodyPr>
          <a:lstStyle/>
          <a:p>
            <a:pPr algn="ctr">
              <a:defRPr sz="980" b="1">
                <a:solidFill>
                  <a:srgbClr val="94A3B8"/>
                </a:solidFill>
                <a:latin typeface="Segoe UI"/>
              </a:defRPr>
            </a:pPr>
            <a:r>
              <a:t>Document Management System (DMS): Semantic Versions &amp; Control Mapping</a:t>
            </a:r>
          </a:p>
        </p:txBody>
      </p:sp>
      <p:sp>
        <p:nvSpPr>
          <p:cNvPr id="18"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ONE-CLICK AUDITOR EVIDENCE GENERATION:  </a:t>
            </a:r>
            <a:r>
              <a:rPr sz="1100" b="0">
                <a:solidFill>
                  <a:srgbClr val="F8FAFC"/>
                </a:solidFill>
                <a:latin typeface="Segoe UI"/>
              </a:rPr>
              <a:t>Both the Statement of Applicability matrix and the Document Compliance inventory can be exported on-demand to branded PDFs or multi-sheet Excel workbooks for external certification audits.</a:t>
            </a:r>
          </a:p>
        </p:txBody>
      </p:sp>
      <p:sp>
        <p:nvSpPr>
          <p:cNvPr id="20" name="Rectangle 19"/>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2" name="TextBox 21"/>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11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EF4444"/>
                </a:solidFill>
                <a:latin typeface="Segoe UI"/>
              </a:defRPr>
            </a:pPr>
            <a:r>
              <a:t>LIVE DEMO • REPORTS &amp; RBAC</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Live Prototype: Reports Bento Grid, 403 RBAC Guard &amp; Mobile UI</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Visual proof of multi-format report center, Viewer role authorization block, and mobile drawer responsiveness</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8113776"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28016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66344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secondary_card"/>
          <p:cNvSpPr/>
          <p:nvPr/>
        </p:nvSpPr>
        <p:spPr>
          <a:xfrm>
            <a:off x="502920" y="1143000"/>
            <a:ext cx="3566160" cy="4251960"/>
          </a:xfrm>
          <a:prstGeom prst="roundRect">
            <a:avLst>
              <a:gd name="adj" fmla="val 4000"/>
            </a:avLst>
          </a:prstGeom>
          <a:solidFill>
            <a:srgbClr val="161F33"/>
          </a:solidFill>
          <a:ln w="22225">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1_reports_bento_grid.png"/>
          <p:cNvPicPr>
            <a:picLocks noChangeAspect="1"/>
          </p:cNvPicPr>
          <p:nvPr/>
        </p:nvPicPr>
        <p:blipFill>
          <a:blip r:embed="rId3"/>
          <a:stretch>
            <a:fillRect/>
          </a:stretch>
        </p:blipFill>
        <p:spPr>
          <a:xfrm>
            <a:off x="594360" y="1234440"/>
            <a:ext cx="3383279" cy="3867912"/>
          </a:xfrm>
          <a:prstGeom prst="rect">
            <a:avLst/>
          </a:prstGeom>
        </p:spPr>
      </p:pic>
      <p:sp>
        <p:nvSpPr>
          <p:cNvPr id="14" name="TextBox 13"/>
          <p:cNvSpPr txBox="1"/>
          <p:nvPr/>
        </p:nvSpPr>
        <p:spPr>
          <a:xfrm>
            <a:off x="612648" y="5111496"/>
            <a:ext cx="3346704" cy="237744"/>
          </a:xfrm>
          <a:prstGeom prst="rect">
            <a:avLst/>
          </a:prstGeom>
          <a:noFill/>
        </p:spPr>
        <p:txBody>
          <a:bodyPr wrap="square" lIns="45720" rIns="45720" tIns="27432" bIns="27432">
            <a:spAutoFit/>
          </a:bodyPr>
          <a:lstStyle/>
          <a:p>
            <a:pPr algn="ctr">
              <a:defRPr sz="980" b="1">
                <a:solidFill>
                  <a:srgbClr val="94A3B8"/>
                </a:solidFill>
                <a:latin typeface="Segoe UI"/>
              </a:defRPr>
            </a:pPr>
            <a:r>
              <a:t>Reports Bento Grid: 6 Report Types (CSV / PDF / XLSX)</a:t>
            </a:r>
          </a:p>
        </p:txBody>
      </p:sp>
      <p:sp>
        <p:nvSpPr>
          <p:cNvPr id="15" name="!!focus_card"/>
          <p:cNvSpPr/>
          <p:nvPr/>
        </p:nvSpPr>
        <p:spPr>
          <a:xfrm>
            <a:off x="4297680" y="1143000"/>
            <a:ext cx="3566160" cy="4251960"/>
          </a:xfrm>
          <a:prstGeom prst="roundRect">
            <a:avLst>
              <a:gd name="adj" fmla="val 4000"/>
            </a:avLst>
          </a:prstGeom>
          <a:solidFill>
            <a:srgbClr val="161F33"/>
          </a:solidFill>
          <a:ln w="222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01_viewer_role_403.png"/>
          <p:cNvPicPr>
            <a:picLocks noChangeAspect="1"/>
          </p:cNvPicPr>
          <p:nvPr/>
        </p:nvPicPr>
        <p:blipFill>
          <a:blip r:embed="rId4"/>
          <a:stretch>
            <a:fillRect/>
          </a:stretch>
        </p:blipFill>
        <p:spPr>
          <a:xfrm>
            <a:off x="4389120" y="1234440"/>
            <a:ext cx="3383279" cy="3867912"/>
          </a:xfrm>
          <a:prstGeom prst="rect">
            <a:avLst/>
          </a:prstGeom>
        </p:spPr>
      </p:pic>
      <p:sp>
        <p:nvSpPr>
          <p:cNvPr id="17" name="TextBox 16"/>
          <p:cNvSpPr txBox="1"/>
          <p:nvPr/>
        </p:nvSpPr>
        <p:spPr>
          <a:xfrm>
            <a:off x="4407408" y="5111496"/>
            <a:ext cx="3346704" cy="237744"/>
          </a:xfrm>
          <a:prstGeom prst="rect">
            <a:avLst/>
          </a:prstGeom>
          <a:noFill/>
        </p:spPr>
        <p:txBody>
          <a:bodyPr wrap="square" lIns="45720" rIns="45720" tIns="27432" bIns="27432">
            <a:spAutoFit/>
          </a:bodyPr>
          <a:lstStyle/>
          <a:p>
            <a:pPr algn="ctr">
              <a:defRPr sz="980" b="1">
                <a:solidFill>
                  <a:srgbClr val="94A3B8"/>
                </a:solidFill>
                <a:latin typeface="Segoe UI"/>
              </a:defRPr>
            </a:pPr>
            <a:r>
              <a:t>Security Proof: Custom 403 Access Denied for Viewer Role</a:t>
            </a:r>
          </a:p>
        </p:txBody>
      </p:sp>
      <p:sp>
        <p:nvSpPr>
          <p:cNvPr id="18" name="Rounded Rectangle 17"/>
          <p:cNvSpPr/>
          <p:nvPr/>
        </p:nvSpPr>
        <p:spPr>
          <a:xfrm>
            <a:off x="8092440" y="1143000"/>
            <a:ext cx="3593592" cy="4251960"/>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1_mobile_dashboard.png"/>
          <p:cNvPicPr>
            <a:picLocks noChangeAspect="1"/>
          </p:cNvPicPr>
          <p:nvPr/>
        </p:nvPicPr>
        <p:blipFill>
          <a:blip r:embed="rId5"/>
          <a:stretch>
            <a:fillRect/>
          </a:stretch>
        </p:blipFill>
        <p:spPr>
          <a:xfrm>
            <a:off x="8183879" y="1234440"/>
            <a:ext cx="3410712" cy="3867912"/>
          </a:xfrm>
          <a:prstGeom prst="rect">
            <a:avLst/>
          </a:prstGeom>
        </p:spPr>
      </p:pic>
      <p:sp>
        <p:nvSpPr>
          <p:cNvPr id="20" name="TextBox 19"/>
          <p:cNvSpPr txBox="1"/>
          <p:nvPr/>
        </p:nvSpPr>
        <p:spPr>
          <a:xfrm>
            <a:off x="8202167" y="5111496"/>
            <a:ext cx="3374136" cy="237744"/>
          </a:xfrm>
          <a:prstGeom prst="rect">
            <a:avLst/>
          </a:prstGeom>
          <a:noFill/>
        </p:spPr>
        <p:txBody>
          <a:bodyPr wrap="square" lIns="45720" rIns="45720" tIns="27432" bIns="27432">
            <a:spAutoFit/>
          </a:bodyPr>
          <a:lstStyle/>
          <a:p>
            <a:pPr algn="ctr">
              <a:defRPr sz="980" b="1">
                <a:solidFill>
                  <a:srgbClr val="94A3B8"/>
                </a:solidFill>
                <a:latin typeface="Segoe UI"/>
              </a:defRPr>
            </a:pPr>
            <a:r>
              <a:t>Mobile Responsive Viewport &amp; Drawer Navigation</a:t>
            </a:r>
          </a:p>
        </p:txBody>
      </p:sp>
      <p:sp>
        <p:nvSpPr>
          <p:cNvPr id="21"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VERIFIED ROLE-BASED ACCESS CONTROL &amp; RESPONSIVE ERGONOMICS:  </a:t>
            </a:r>
            <a:r>
              <a:rPr sz="1100" b="0">
                <a:solidFill>
                  <a:srgbClr val="F8FAFC"/>
                </a:solidFill>
                <a:latin typeface="Segoe UI"/>
              </a:rPr>
              <a:t>When a user with the 'viewer' role attempts to create or modify an Asset or Risk, AssetPolicy and RiskPolicy intercept the request and render the custom 403 Access Denied view.</a:t>
            </a:r>
          </a:p>
        </p:txBody>
      </p:sp>
      <p:sp>
        <p:nvSpPr>
          <p:cNvPr id="23" name="Rectangle 22"/>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25" name="TextBox 24"/>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12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10B981"/>
                </a:solidFill>
                <a:latin typeface="Segoe UI"/>
              </a:defRPr>
            </a:pPr>
            <a:r>
              <a:t>QUALITY ASSURANCE</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Comprehensive Automated Testing Matrix (71/71 Passing)</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100% Pass Rate Across 71 PHPUnit Feature &amp; Unit Tests (169 Assertions Verified)</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8805672"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475488" y="1097280"/>
            <a:ext cx="11237976" cy="4315968"/>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133856"/>
          <a:ext cx="11185855" cy="4242816"/>
        </p:xfrm>
        <a:graphic>
          <a:graphicData uri="http://schemas.openxmlformats.org/drawingml/2006/table">
            <a:tbl>
              <a:tblPr firstRow="1" bandRow="1">
                <a:tableStyleId>{5C22544A-7EE6-4342-B048-85BDC9FD1C3A}</a:tableStyleId>
              </a:tblPr>
              <a:tblGrid>
                <a:gridCol w="1965960"/>
                <a:gridCol w="2971800"/>
                <a:gridCol w="3824935"/>
                <a:gridCol w="1325880"/>
                <a:gridCol w="1097280"/>
              </a:tblGrid>
              <a:tr h="471424">
                <a:tc>
                  <a:txBody>
                    <a:bodyPr/>
                    <a:lstStyle/>
                    <a:p>
                      <a:pPr algn="l">
                        <a:defRPr sz="980" b="1">
                          <a:solidFill>
                            <a:srgbClr val="F59E0B"/>
                          </a:solidFill>
                          <a:latin typeface="Segoe UI"/>
                        </a:defRPr>
                      </a:pPr>
                      <a:r>
                        <a:t>Phase / Module Suite</a:t>
                      </a:r>
                    </a:p>
                  </a:txBody>
                  <a:tcPr anchor="ctr">
                    <a:solidFill>
                      <a:srgbClr val="1E293B"/>
                    </a:solidFill>
                  </a:tcPr>
                </a:tc>
                <a:tc>
                  <a:txBody>
                    <a:bodyPr/>
                    <a:lstStyle/>
                    <a:p>
                      <a:pPr algn="l">
                        <a:defRPr sz="980" b="1">
                          <a:solidFill>
                            <a:srgbClr val="F59E0B"/>
                          </a:solidFill>
                          <a:latin typeface="Segoe UI"/>
                        </a:defRPr>
                      </a:pPr>
                      <a:r>
                        <a:t>Test Classes Executed</a:t>
                      </a:r>
                    </a:p>
                  </a:txBody>
                  <a:tcPr anchor="ctr">
                    <a:solidFill>
                      <a:srgbClr val="1E293B"/>
                    </a:solidFill>
                  </a:tcPr>
                </a:tc>
                <a:tc>
                  <a:txBody>
                    <a:bodyPr/>
                    <a:lstStyle/>
                    <a:p>
                      <a:pPr algn="ctr">
                        <a:defRPr sz="980" b="1">
                          <a:solidFill>
                            <a:srgbClr val="F59E0B"/>
                          </a:solidFill>
                          <a:latin typeface="Segoe UI"/>
                        </a:defRPr>
                      </a:pPr>
                      <a:r>
                        <a:t>Key Verification Scenarios Covered</a:t>
                      </a:r>
                    </a:p>
                  </a:txBody>
                  <a:tcPr anchor="ctr">
                    <a:solidFill>
                      <a:srgbClr val="1E293B"/>
                    </a:solidFill>
                  </a:tcPr>
                </a:tc>
                <a:tc>
                  <a:txBody>
                    <a:bodyPr/>
                    <a:lstStyle/>
                    <a:p>
                      <a:pPr algn="ctr">
                        <a:defRPr sz="980" b="1">
                          <a:solidFill>
                            <a:srgbClr val="F59E0B"/>
                          </a:solidFill>
                          <a:latin typeface="Segoe UI"/>
                        </a:defRPr>
                      </a:pPr>
                      <a:r>
                        <a:t>Tests / Asserts</a:t>
                      </a:r>
                    </a:p>
                  </a:txBody>
                  <a:tcPr anchor="ctr">
                    <a:solidFill>
                      <a:srgbClr val="1E293B"/>
                    </a:solidFill>
                  </a:tcPr>
                </a:tc>
                <a:tc>
                  <a:txBody>
                    <a:bodyPr/>
                    <a:lstStyle/>
                    <a:p>
                      <a:pPr algn="ctr">
                        <a:defRPr sz="980" b="1">
                          <a:solidFill>
                            <a:srgbClr val="F59E0B"/>
                          </a:solidFill>
                          <a:latin typeface="Segoe UI"/>
                        </a:defRPr>
                      </a:pPr>
                      <a:r>
                        <a:t>Status</a:t>
                      </a:r>
                    </a:p>
                  </a:txBody>
                  <a:tcPr anchor="ctr">
                    <a:solidFill>
                      <a:srgbClr val="1E293B"/>
                    </a:solidFill>
                  </a:tcPr>
                </a:tc>
              </a:tr>
              <a:tr h="471424">
                <a:tc>
                  <a:txBody>
                    <a:bodyPr/>
                    <a:lstStyle/>
                    <a:p>
                      <a:pPr algn="l">
                        <a:defRPr sz="930" b="1">
                          <a:solidFill>
                            <a:srgbClr val="06B6D4"/>
                          </a:solidFill>
                          <a:latin typeface="Segoe UI"/>
                        </a:defRPr>
                      </a:pPr>
                      <a:r>
                        <a:t>Phase 1: Auth &amp; Profile</a:t>
                      </a:r>
                    </a:p>
                  </a:txBody>
                  <a:tcPr anchor="ctr">
                    <a:solidFill>
                      <a:srgbClr val="161F33"/>
                    </a:solidFill>
                  </a:tcPr>
                </a:tc>
                <a:tc>
                  <a:txBody>
                    <a:bodyPr/>
                    <a:lstStyle/>
                    <a:p>
                      <a:pPr algn="l">
                        <a:defRPr sz="930" b="0">
                          <a:solidFill>
                            <a:srgbClr val="F8FAFC"/>
                          </a:solidFill>
                          <a:latin typeface="Segoe UI"/>
                        </a:defRPr>
                      </a:pPr>
                      <a:r>
                        <a:t>AuthenticationTest, RegistrationTest, ProfileTest, PasswordResetTest</a:t>
                      </a:r>
                    </a:p>
                  </a:txBody>
                  <a:tcPr anchor="ctr">
                    <a:solidFill>
                      <a:srgbClr val="161F33"/>
                    </a:solidFill>
                  </a:tcPr>
                </a:tc>
                <a:tc>
                  <a:txBody>
                    <a:bodyPr/>
                    <a:lstStyle/>
                    <a:p>
                      <a:pPr algn="l">
                        <a:defRPr sz="930" b="0">
                          <a:solidFill>
                            <a:srgbClr val="F8FAFC"/>
                          </a:solidFill>
                          <a:latin typeface="Segoe UI"/>
                        </a:defRPr>
                      </a:pPr>
                      <a:r>
                        <a:t>Breeze login, registration, email verification, password reset &amp; profile updates</a:t>
                      </a:r>
                    </a:p>
                  </a:txBody>
                  <a:tcPr anchor="ctr">
                    <a:solidFill>
                      <a:srgbClr val="161F33"/>
                    </a:solidFill>
                  </a:tcPr>
                </a:tc>
                <a:tc>
                  <a:txBody>
                    <a:bodyPr/>
                    <a:lstStyle/>
                    <a:p>
                      <a:pPr algn="ctr">
                        <a:defRPr sz="930" b="0">
                          <a:solidFill>
                            <a:srgbClr val="F59E0B"/>
                          </a:solidFill>
                          <a:latin typeface="Segoe UI"/>
                        </a:defRPr>
                      </a:pPr>
                      <a:r>
                        <a:t>25 Tests / 58 Asserts</a:t>
                      </a:r>
                    </a:p>
                  </a:txBody>
                  <a:tcPr anchor="ctr">
                    <a:solidFill>
                      <a:srgbClr val="161F33"/>
                    </a:solidFill>
                  </a:tcPr>
                </a:tc>
                <a:tc>
                  <a:txBody>
                    <a:bodyPr/>
                    <a:lstStyle/>
                    <a:p>
                      <a:pPr algn="ctr">
                        <a:defRPr sz="930" b="1">
                          <a:solidFill>
                            <a:srgbClr val="10B981"/>
                          </a:solidFill>
                          <a:latin typeface="Segoe UI"/>
                        </a:defRPr>
                      </a:pPr>
                      <a:r>
                        <a:t>100% PASS ✔</a:t>
                      </a:r>
                    </a:p>
                  </a:txBody>
                  <a:tcPr anchor="ctr">
                    <a:solidFill>
                      <a:srgbClr val="161F33"/>
                    </a:solidFill>
                  </a:tcPr>
                </a:tc>
              </a:tr>
              <a:tr h="471424">
                <a:tc>
                  <a:txBody>
                    <a:bodyPr/>
                    <a:lstStyle/>
                    <a:p>
                      <a:pPr algn="l">
                        <a:defRPr sz="930" b="1">
                          <a:solidFill>
                            <a:srgbClr val="06B6D4"/>
                          </a:solidFill>
                          <a:latin typeface="Segoe UI"/>
                        </a:defRPr>
                      </a:pPr>
                      <a:r>
                        <a:t>Phase 1: Multi-Tenancy</a:t>
                      </a:r>
                    </a:p>
                  </a:txBody>
                  <a:tcPr anchor="ctr">
                    <a:solidFill>
                      <a:srgbClr val="0B0F19"/>
                    </a:solidFill>
                  </a:tcPr>
                </a:tc>
                <a:tc>
                  <a:txBody>
                    <a:bodyPr/>
                    <a:lstStyle/>
                    <a:p>
                      <a:pPr algn="l">
                        <a:defRPr sz="930" b="0">
                          <a:solidFill>
                            <a:srgbClr val="F8FAFC"/>
                          </a:solidFill>
                          <a:latin typeface="Segoe UI"/>
                        </a:defRPr>
                      </a:pPr>
                      <a:r>
                        <a:t>TenantCreationTest, UserInvitationTest, ExampleTest</a:t>
                      </a:r>
                    </a:p>
                  </a:txBody>
                  <a:tcPr anchor="ctr">
                    <a:solidFill>
                      <a:srgbClr val="0B0F19"/>
                    </a:solidFill>
                  </a:tcPr>
                </a:tc>
                <a:tc>
                  <a:txBody>
                    <a:bodyPr/>
                    <a:lstStyle/>
                    <a:p>
                      <a:pPr algn="l">
                        <a:defRPr sz="930" b="0">
                          <a:solidFill>
                            <a:srgbClr val="F8FAFC"/>
                          </a:solidFill>
                          <a:latin typeface="Segoe UI"/>
                        </a:defRPr>
                      </a:pPr>
                      <a:r>
                        <a:t>Organization onboarding, token invitation acceptance, role assignment &amp; tenant isolation</a:t>
                      </a:r>
                    </a:p>
                  </a:txBody>
                  <a:tcPr anchor="ctr">
                    <a:solidFill>
                      <a:srgbClr val="0B0F19"/>
                    </a:solidFill>
                  </a:tcPr>
                </a:tc>
                <a:tc>
                  <a:txBody>
                    <a:bodyPr/>
                    <a:lstStyle/>
                    <a:p>
                      <a:pPr algn="ctr">
                        <a:defRPr sz="930" b="0">
                          <a:solidFill>
                            <a:srgbClr val="F59E0B"/>
                          </a:solidFill>
                          <a:latin typeface="Segoe UI"/>
                        </a:defRPr>
                      </a:pPr>
                      <a:r>
                        <a:t>4 Tests / 15 Asserts</a:t>
                      </a:r>
                    </a:p>
                  </a:txBody>
                  <a:tcPr anchor="ctr">
                    <a:solidFill>
                      <a:srgbClr val="0B0F19"/>
                    </a:solidFill>
                  </a:tcPr>
                </a:tc>
                <a:tc>
                  <a:txBody>
                    <a:bodyPr/>
                    <a:lstStyle/>
                    <a:p>
                      <a:pPr algn="ctr">
                        <a:defRPr sz="930" b="1">
                          <a:solidFill>
                            <a:srgbClr val="10B981"/>
                          </a:solidFill>
                          <a:latin typeface="Segoe UI"/>
                        </a:defRPr>
                      </a:pPr>
                      <a:r>
                        <a:t>100% PASS ✔</a:t>
                      </a:r>
                    </a:p>
                  </a:txBody>
                  <a:tcPr anchor="ctr">
                    <a:solidFill>
                      <a:srgbClr val="0B0F19"/>
                    </a:solidFill>
                  </a:tcPr>
                </a:tc>
              </a:tr>
              <a:tr h="471424">
                <a:tc>
                  <a:txBody>
                    <a:bodyPr/>
                    <a:lstStyle/>
                    <a:p>
                      <a:pPr algn="l">
                        <a:defRPr sz="930" b="1">
                          <a:solidFill>
                            <a:srgbClr val="06B6D4"/>
                          </a:solidFill>
                          <a:latin typeface="Segoe UI"/>
                        </a:defRPr>
                      </a:pPr>
                      <a:r>
                        <a:t>Phase 2: Assessments</a:t>
                      </a:r>
                    </a:p>
                  </a:txBody>
                  <a:tcPr anchor="ctr">
                    <a:solidFill>
                      <a:srgbClr val="161F33"/>
                    </a:solidFill>
                  </a:tcPr>
                </a:tc>
                <a:tc>
                  <a:txBody>
                    <a:bodyPr/>
                    <a:lstStyle/>
                    <a:p>
                      <a:pPr algn="l">
                        <a:defRPr sz="930" b="0">
                          <a:solidFill>
                            <a:srgbClr val="F8FAFC"/>
                          </a:solidFill>
                          <a:latin typeface="Segoe UI"/>
                        </a:defRPr>
                      </a:pPr>
                      <a:r>
                        <a:t>AssessmentCreationTest, ProgressCalculationTest, ResponseUpdateTest</a:t>
                      </a:r>
                    </a:p>
                  </a:txBody>
                  <a:tcPr anchor="ctr">
                    <a:solidFill>
                      <a:srgbClr val="161F33"/>
                    </a:solidFill>
                  </a:tcPr>
                </a:tc>
                <a:tc>
                  <a:txBody>
                    <a:bodyPr/>
                    <a:lstStyle/>
                    <a:p>
                      <a:pPr algn="l">
                        <a:defRPr sz="930" b="0">
                          <a:solidFill>
                            <a:srgbClr val="F8FAFC"/>
                          </a:solidFill>
                          <a:latin typeface="Segoe UI"/>
                        </a:defRPr>
                      </a:pPr>
                      <a:r>
                        <a:t>Assessment wizard CRUD, 115 control initialization, single/bulk updates &amp; weighted score</a:t>
                      </a:r>
                    </a:p>
                  </a:txBody>
                  <a:tcPr anchor="ctr">
                    <a:solidFill>
                      <a:srgbClr val="161F33"/>
                    </a:solidFill>
                  </a:tcPr>
                </a:tc>
                <a:tc>
                  <a:txBody>
                    <a:bodyPr/>
                    <a:lstStyle/>
                    <a:p>
                      <a:pPr algn="ctr">
                        <a:defRPr sz="930" b="0">
                          <a:solidFill>
                            <a:srgbClr val="F59E0B"/>
                          </a:solidFill>
                          <a:latin typeface="Segoe UI"/>
                        </a:defRPr>
                      </a:pPr>
                      <a:r>
                        <a:t>8 Tests / 20 Asserts</a:t>
                      </a:r>
                    </a:p>
                  </a:txBody>
                  <a:tcPr anchor="ctr">
                    <a:solidFill>
                      <a:srgbClr val="161F33"/>
                    </a:solidFill>
                  </a:tcPr>
                </a:tc>
                <a:tc>
                  <a:txBody>
                    <a:bodyPr/>
                    <a:lstStyle/>
                    <a:p>
                      <a:pPr algn="ctr">
                        <a:defRPr sz="930" b="1">
                          <a:solidFill>
                            <a:srgbClr val="10B981"/>
                          </a:solidFill>
                          <a:latin typeface="Segoe UI"/>
                        </a:defRPr>
                      </a:pPr>
                      <a:r>
                        <a:t>100% PASS ✔</a:t>
                      </a:r>
                    </a:p>
                  </a:txBody>
                  <a:tcPr anchor="ctr">
                    <a:solidFill>
                      <a:srgbClr val="161F33"/>
                    </a:solidFill>
                  </a:tcPr>
                </a:tc>
              </a:tr>
              <a:tr h="471424">
                <a:tc>
                  <a:txBody>
                    <a:bodyPr/>
                    <a:lstStyle/>
                    <a:p>
                      <a:pPr algn="l">
                        <a:defRPr sz="930" b="1">
                          <a:solidFill>
                            <a:srgbClr val="06B6D4"/>
                          </a:solidFill>
                          <a:latin typeface="Segoe UI"/>
                        </a:defRPr>
                      </a:pPr>
                      <a:r>
                        <a:t>Phase 3: Asset &amp; Risk Core</a:t>
                      </a:r>
                    </a:p>
                  </a:txBody>
                  <a:tcPr anchor="ctr">
                    <a:solidFill>
                      <a:srgbClr val="0B0F19"/>
                    </a:solidFill>
                  </a:tcPr>
                </a:tc>
                <a:tc>
                  <a:txBody>
                    <a:bodyPr/>
                    <a:lstStyle/>
                    <a:p>
                      <a:pPr algn="l">
                        <a:defRPr sz="930" b="0">
                          <a:solidFill>
                            <a:srgbClr val="F8FAFC"/>
                          </a:solidFill>
                          <a:latin typeface="Segoe UI"/>
                        </a:defRPr>
                      </a:pPr>
                      <a:r>
                        <a:t>AssetCRUDTest, RiskScoreCalculationTest, TreatmentPlanTest</a:t>
                      </a:r>
                    </a:p>
                  </a:txBody>
                  <a:tcPr anchor="ctr">
                    <a:solidFill>
                      <a:srgbClr val="0B0F19"/>
                    </a:solidFill>
                  </a:tcPr>
                </a:tc>
                <a:tc>
                  <a:txBody>
                    <a:bodyPr/>
                    <a:lstStyle/>
                    <a:p>
                      <a:pPr algn="l">
                        <a:defRPr sz="930" b="0">
                          <a:solidFill>
                            <a:srgbClr val="F8FAFC"/>
                          </a:solidFill>
                          <a:latin typeface="Segoe UI"/>
                        </a:defRPr>
                      </a:pPr>
                      <a:r>
                        <a:t>Asset CIA valuation, Likelihood × Impact (1–25) calculation &amp; severity band mapping</a:t>
                      </a:r>
                    </a:p>
                  </a:txBody>
                  <a:tcPr anchor="ctr">
                    <a:solidFill>
                      <a:srgbClr val="0B0F19"/>
                    </a:solidFill>
                  </a:tcPr>
                </a:tc>
                <a:tc>
                  <a:txBody>
                    <a:bodyPr/>
                    <a:lstStyle/>
                    <a:p>
                      <a:pPr algn="ctr">
                        <a:defRPr sz="930" b="0">
                          <a:solidFill>
                            <a:srgbClr val="F59E0B"/>
                          </a:solidFill>
                          <a:latin typeface="Segoe UI"/>
                        </a:defRPr>
                      </a:pPr>
                      <a:r>
                        <a:t>12 Tests / 19 Asserts</a:t>
                      </a:r>
                    </a:p>
                  </a:txBody>
                  <a:tcPr anchor="ctr">
                    <a:solidFill>
                      <a:srgbClr val="0B0F19"/>
                    </a:solidFill>
                  </a:tcPr>
                </a:tc>
                <a:tc>
                  <a:txBody>
                    <a:bodyPr/>
                    <a:lstStyle/>
                    <a:p>
                      <a:pPr algn="ctr">
                        <a:defRPr sz="930" b="1">
                          <a:solidFill>
                            <a:srgbClr val="10B981"/>
                          </a:solidFill>
                          <a:latin typeface="Segoe UI"/>
                        </a:defRPr>
                      </a:pPr>
                      <a:r>
                        <a:t>100% PASS ✔</a:t>
                      </a:r>
                    </a:p>
                  </a:txBody>
                  <a:tcPr anchor="ctr">
                    <a:solidFill>
                      <a:srgbClr val="0B0F19"/>
                    </a:solidFill>
                  </a:tcPr>
                </a:tc>
              </a:tr>
              <a:tr h="471424">
                <a:tc>
                  <a:txBody>
                    <a:bodyPr/>
                    <a:lstStyle/>
                    <a:p>
                      <a:pPr algn="l">
                        <a:defRPr sz="930" b="1">
                          <a:solidFill>
                            <a:srgbClr val="06B6D4"/>
                          </a:solidFill>
                          <a:latin typeface="Segoe UI"/>
                        </a:defRPr>
                      </a:pPr>
                      <a:r>
                        <a:t>Phase 4: SoA Engine</a:t>
                      </a:r>
                    </a:p>
                  </a:txBody>
                  <a:tcPr anchor="ctr">
                    <a:solidFill>
                      <a:srgbClr val="161F33"/>
                    </a:solidFill>
                  </a:tcPr>
                </a:tc>
                <a:tc>
                  <a:txBody>
                    <a:bodyPr/>
                    <a:lstStyle/>
                    <a:p>
                      <a:pPr algn="l">
                        <a:defRPr sz="930" b="0">
                          <a:solidFill>
                            <a:srgbClr val="F8FAFC"/>
                          </a:solidFill>
                          <a:latin typeface="Segoe UI"/>
                        </a:defRPr>
                      </a:pPr>
                      <a:r>
                        <a:t>SoAGenerationTest, ApprovalWorkflowTest, SoAExportTest, VersionComparisonTest</a:t>
                      </a:r>
                    </a:p>
                  </a:txBody>
                  <a:tcPr anchor="ctr">
                    <a:solidFill>
                      <a:srgbClr val="161F33"/>
                    </a:solidFill>
                  </a:tcPr>
                </a:tc>
                <a:tc>
                  <a:txBody>
                    <a:bodyPr/>
                    <a:lstStyle/>
                    <a:p>
                      <a:pPr algn="l">
                        <a:defRPr sz="930" b="0">
                          <a:solidFill>
                            <a:srgbClr val="F8FAFC"/>
                          </a:solidFill>
                          <a:latin typeface="Segoe UI"/>
                        </a:defRPr>
                      </a:pPr>
                      <a:r>
                        <a:t>Auto-SoA generation from responses, single/bulk approval, JSON version diffing &amp; exports</a:t>
                      </a:r>
                    </a:p>
                  </a:txBody>
                  <a:tcPr anchor="ctr">
                    <a:solidFill>
                      <a:srgbClr val="161F33"/>
                    </a:solidFill>
                  </a:tcPr>
                </a:tc>
                <a:tc>
                  <a:txBody>
                    <a:bodyPr/>
                    <a:lstStyle/>
                    <a:p>
                      <a:pPr algn="ctr">
                        <a:defRPr sz="930" b="0">
                          <a:solidFill>
                            <a:srgbClr val="F59E0B"/>
                          </a:solidFill>
                          <a:latin typeface="Segoe UI"/>
                        </a:defRPr>
                      </a:pPr>
                      <a:r>
                        <a:t>5 Tests / 16 Asserts</a:t>
                      </a:r>
                    </a:p>
                  </a:txBody>
                  <a:tcPr anchor="ctr">
                    <a:solidFill>
                      <a:srgbClr val="161F33"/>
                    </a:solidFill>
                  </a:tcPr>
                </a:tc>
                <a:tc>
                  <a:txBody>
                    <a:bodyPr/>
                    <a:lstStyle/>
                    <a:p>
                      <a:pPr algn="ctr">
                        <a:defRPr sz="930" b="1">
                          <a:solidFill>
                            <a:srgbClr val="10B981"/>
                          </a:solidFill>
                          <a:latin typeface="Segoe UI"/>
                        </a:defRPr>
                      </a:pPr>
                      <a:r>
                        <a:t>100% PASS ✔</a:t>
                      </a:r>
                    </a:p>
                  </a:txBody>
                  <a:tcPr anchor="ctr">
                    <a:solidFill>
                      <a:srgbClr val="161F33"/>
                    </a:solidFill>
                  </a:tcPr>
                </a:tc>
              </a:tr>
              <a:tr h="471424">
                <a:tc>
                  <a:txBody>
                    <a:bodyPr/>
                    <a:lstStyle/>
                    <a:p>
                      <a:pPr algn="l">
                        <a:defRPr sz="930" b="1">
                          <a:solidFill>
                            <a:srgbClr val="06B6D4"/>
                          </a:solidFill>
                          <a:latin typeface="Segoe UI"/>
                        </a:defRPr>
                      </a:pPr>
                      <a:r>
                        <a:t>Phase 5: Document DMS</a:t>
                      </a:r>
                    </a:p>
                  </a:txBody>
                  <a:tcPr anchor="ctr">
                    <a:solidFill>
                      <a:srgbClr val="0B0F19"/>
                    </a:solidFill>
                  </a:tcPr>
                </a:tc>
                <a:tc>
                  <a:txBody>
                    <a:bodyPr/>
                    <a:lstStyle/>
                    <a:p>
                      <a:pPr algn="l">
                        <a:defRPr sz="930" b="0">
                          <a:solidFill>
                            <a:srgbClr val="F8FAFC"/>
                          </a:solidFill>
                          <a:latin typeface="Segoe UI"/>
                        </a:defRPr>
                      </a:pPr>
                      <a:r>
                        <a:t>DocumentUploadTest, VersionControlTest, ReviewWorkflowTest</a:t>
                      </a:r>
                    </a:p>
                  </a:txBody>
                  <a:tcPr anchor="ctr">
                    <a:solidFill>
                      <a:srgbClr val="0B0F19"/>
                    </a:solidFill>
                  </a:tcPr>
                </a:tc>
                <a:tc>
                  <a:txBody>
                    <a:bodyPr/>
                    <a:lstStyle/>
                    <a:p>
                      <a:pPr algn="l">
                        <a:defRPr sz="930" b="0">
                          <a:solidFill>
                            <a:srgbClr val="F8FAFC"/>
                          </a:solidFill>
                          <a:latin typeface="Segoe UI"/>
                        </a:defRPr>
                      </a:pPr>
                      <a:r>
                        <a:t>Tenant-isolated storage, semantic version history, reviewer approval &amp; control mapping</a:t>
                      </a:r>
                    </a:p>
                  </a:txBody>
                  <a:tcPr anchor="ctr">
                    <a:solidFill>
                      <a:srgbClr val="0B0F19"/>
                    </a:solidFill>
                  </a:tcPr>
                </a:tc>
                <a:tc>
                  <a:txBody>
                    <a:bodyPr/>
                    <a:lstStyle/>
                    <a:p>
                      <a:pPr algn="ctr">
                        <a:defRPr sz="930" b="0">
                          <a:solidFill>
                            <a:srgbClr val="F59E0B"/>
                          </a:solidFill>
                          <a:latin typeface="Segoe UI"/>
                        </a:defRPr>
                      </a:pPr>
                      <a:r>
                        <a:t>3 Tests / 7 Asserts</a:t>
                      </a:r>
                    </a:p>
                  </a:txBody>
                  <a:tcPr anchor="ctr">
                    <a:solidFill>
                      <a:srgbClr val="0B0F19"/>
                    </a:solidFill>
                  </a:tcPr>
                </a:tc>
                <a:tc>
                  <a:txBody>
                    <a:bodyPr/>
                    <a:lstStyle/>
                    <a:p>
                      <a:pPr algn="ctr">
                        <a:defRPr sz="930" b="1">
                          <a:solidFill>
                            <a:srgbClr val="10B981"/>
                          </a:solidFill>
                          <a:latin typeface="Segoe UI"/>
                        </a:defRPr>
                      </a:pPr>
                      <a:r>
                        <a:t>100% PASS ✔</a:t>
                      </a:r>
                    </a:p>
                  </a:txBody>
                  <a:tcPr anchor="ctr">
                    <a:solidFill>
                      <a:srgbClr val="0B0F19"/>
                    </a:solidFill>
                  </a:tcPr>
                </a:tc>
              </a:tr>
              <a:tr h="471424">
                <a:tc>
                  <a:txBody>
                    <a:bodyPr/>
                    <a:lstStyle/>
                    <a:p>
                      <a:pPr algn="l">
                        <a:defRPr sz="930" b="1">
                          <a:solidFill>
                            <a:srgbClr val="06B6D4"/>
                          </a:solidFill>
                          <a:latin typeface="Segoe UI"/>
                        </a:defRPr>
                      </a:pPr>
                      <a:r>
                        <a:t>Phase 6: Reporting &amp; Charts</a:t>
                      </a:r>
                    </a:p>
                  </a:txBody>
                  <a:tcPr anchor="ctr">
                    <a:solidFill>
                      <a:srgbClr val="161F33"/>
                    </a:solidFill>
                  </a:tcPr>
                </a:tc>
                <a:tc>
                  <a:txBody>
                    <a:bodyPr/>
                    <a:lstStyle/>
                    <a:p>
                      <a:pPr algn="l">
                        <a:defRPr sz="930" b="0">
                          <a:solidFill>
                            <a:srgbClr val="F8FAFC"/>
                          </a:solidFill>
                          <a:latin typeface="Segoe UI"/>
                        </a:defRPr>
                      </a:pPr>
                      <a:r>
                        <a:t>DashboardTest, ReportGenerationTest</a:t>
                      </a:r>
                    </a:p>
                  </a:txBody>
                  <a:tcPr anchor="ctr">
                    <a:solidFill>
                      <a:srgbClr val="161F33"/>
                    </a:solidFill>
                  </a:tcPr>
                </a:tc>
                <a:tc>
                  <a:txBody>
                    <a:bodyPr/>
                    <a:lstStyle/>
                    <a:p>
                      <a:pPr algn="l">
                        <a:defRPr sz="930" b="0">
                          <a:solidFill>
                            <a:srgbClr val="F8FAFC"/>
                          </a:solidFill>
                          <a:latin typeface="Segoe UI"/>
                        </a:defRPr>
                      </a:pPr>
                      <a:r>
                        <a:t>Executive dashboard KPI metrics, null-tenant 403 guard, and CSV/PDF/XLSX report exports</a:t>
                      </a:r>
                    </a:p>
                  </a:txBody>
                  <a:tcPr anchor="ctr">
                    <a:solidFill>
                      <a:srgbClr val="161F33"/>
                    </a:solidFill>
                  </a:tcPr>
                </a:tc>
                <a:tc>
                  <a:txBody>
                    <a:bodyPr/>
                    <a:lstStyle/>
                    <a:p>
                      <a:pPr algn="ctr">
                        <a:defRPr sz="930" b="0">
                          <a:solidFill>
                            <a:srgbClr val="F59E0B"/>
                          </a:solidFill>
                          <a:latin typeface="Segoe UI"/>
                        </a:defRPr>
                      </a:pPr>
                      <a:r>
                        <a:t>6 Tests / 15 Asserts</a:t>
                      </a:r>
                    </a:p>
                  </a:txBody>
                  <a:tcPr anchor="ctr">
                    <a:solidFill>
                      <a:srgbClr val="161F33"/>
                    </a:solidFill>
                  </a:tcPr>
                </a:tc>
                <a:tc>
                  <a:txBody>
                    <a:bodyPr/>
                    <a:lstStyle/>
                    <a:p>
                      <a:pPr algn="ctr">
                        <a:defRPr sz="930" b="1">
                          <a:solidFill>
                            <a:srgbClr val="10B981"/>
                          </a:solidFill>
                          <a:latin typeface="Segoe UI"/>
                        </a:defRPr>
                      </a:pPr>
                      <a:r>
                        <a:t>100% PASS ✔</a:t>
                      </a:r>
                    </a:p>
                  </a:txBody>
                  <a:tcPr anchor="ctr">
                    <a:solidFill>
                      <a:srgbClr val="161F33"/>
                    </a:solidFill>
                  </a:tcPr>
                </a:tc>
              </a:tr>
              <a:tr h="471424">
                <a:tc>
                  <a:txBody>
                    <a:bodyPr/>
                    <a:lstStyle/>
                    <a:p>
                      <a:pPr algn="l">
                        <a:defRPr sz="930" b="1">
                          <a:solidFill>
                            <a:srgbClr val="06B6D4"/>
                          </a:solidFill>
                          <a:latin typeface="Segoe UI"/>
                        </a:defRPr>
                      </a:pPr>
                      <a:r>
                        <a:t>Phase 7: Risk v2 &amp; Jobs</a:t>
                      </a:r>
                    </a:p>
                  </a:txBody>
                  <a:tcPr anchor="ctr">
                    <a:solidFill>
                      <a:srgbClr val="0B0F19"/>
                    </a:solidFill>
                  </a:tcPr>
                </a:tc>
                <a:tc>
                  <a:txBody>
                    <a:bodyPr/>
                    <a:lstStyle/>
                    <a:p>
                      <a:pPr algn="l">
                        <a:defRPr sz="930" b="0">
                          <a:solidFill>
                            <a:srgbClr val="F8FAFC"/>
                          </a:solidFill>
                          <a:latin typeface="Segoe UI"/>
                        </a:defRPr>
                      </a:pPr>
                      <a:r>
                        <a:t>RiskRegisterTest, RiskTreatmentWorkflowTest, RiskHeatmapTest, RiskNotificationTest, ScheduledSnapshotTest</a:t>
                      </a:r>
                    </a:p>
                  </a:txBody>
                  <a:tcPr anchor="ctr">
                    <a:solidFill>
                      <a:srgbClr val="0B0F19"/>
                    </a:solidFill>
                  </a:tcPr>
                </a:tc>
                <a:tc>
                  <a:txBody>
                    <a:bodyPr/>
                    <a:lstStyle/>
                    <a:p>
                      <a:pPr algn="l">
                        <a:defRPr sz="930" b="0">
                          <a:solidFill>
                            <a:srgbClr val="F8FAFC"/>
                          </a:solidFill>
                          <a:latin typeface="Segoe UI"/>
                        </a:defRPr>
                      </a:pPr>
                      <a:r>
                        <a:t>Dedicated Risk CRUD, 4 treatment strategies, 5x5 heatmap JSON, notifications &amp; daily snapshot job</a:t>
                      </a:r>
                    </a:p>
                  </a:txBody>
                  <a:tcPr anchor="ctr">
                    <a:solidFill>
                      <a:srgbClr val="0B0F19"/>
                    </a:solidFill>
                  </a:tcPr>
                </a:tc>
                <a:tc>
                  <a:txBody>
                    <a:bodyPr/>
                    <a:lstStyle/>
                    <a:p>
                      <a:pPr algn="ctr">
                        <a:defRPr sz="930" b="0">
                          <a:solidFill>
                            <a:srgbClr val="F59E0B"/>
                          </a:solidFill>
                          <a:latin typeface="Segoe UI"/>
                        </a:defRPr>
                      </a:pPr>
                      <a:r>
                        <a:t>8 Tests / 21 Asserts</a:t>
                      </a:r>
                    </a:p>
                  </a:txBody>
                  <a:tcPr anchor="ctr">
                    <a:solidFill>
                      <a:srgbClr val="0B0F19"/>
                    </a:solidFill>
                  </a:tcPr>
                </a:tc>
                <a:tc>
                  <a:txBody>
                    <a:bodyPr/>
                    <a:lstStyle/>
                    <a:p>
                      <a:pPr algn="ctr">
                        <a:defRPr sz="930" b="1">
                          <a:solidFill>
                            <a:srgbClr val="10B981"/>
                          </a:solidFill>
                          <a:latin typeface="Segoe UI"/>
                        </a:defRPr>
                      </a:pPr>
                      <a:r>
                        <a:t>100% PASS ✔</a:t>
                      </a:r>
                    </a:p>
                  </a:txBody>
                  <a:tcPr anchor="ctr">
                    <a:solidFill>
                      <a:srgbClr val="0B0F19"/>
                    </a:solidFill>
                  </a:tcPr>
                </a:tc>
              </a:tr>
            </a:tbl>
          </a:graphicData>
        </a:graphic>
      </p:graphicFrame>
      <p:sp>
        <p:nvSpPr>
          <p:cNvPr id="14"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CONTINUOUS REGRESSION SAFETY ACROSS 8 PHASES:  </a:t>
            </a:r>
            <a:r>
              <a:rPr sz="1100" b="0">
                <a:solidFill>
                  <a:srgbClr val="F8FAFC"/>
                </a:solidFill>
                <a:latin typeface="Segoe UI"/>
              </a:rPr>
              <a:t>Every new phase was validated against the entire cumulative PHPUnit test suite using RefreshDatabase and model factories, ensuring zero regressions from Phase 1 (29 tests) to Phase 7/8 (71 tests, 169 assertions).</a:t>
            </a:r>
          </a:p>
        </p:txBody>
      </p:sp>
      <p:sp>
        <p:nvSpPr>
          <p:cNvPr id="16" name="Rectangle 15"/>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18" name="TextBox 17"/>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13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F59E0B"/>
                </a:solidFill>
                <a:latin typeface="Segoe UI"/>
              </a:defRPr>
            </a:pPr>
            <a:r>
              <a:t>RETROSPECTIVE</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Engineering Challenges &amp; Production Bug Resolutions</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Real-world architectural hurdles encountered across Phases 1–8 and how they were resolved</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9497568"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228600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347472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Rounded Rectangle 11"/>
          <p:cNvSpPr/>
          <p:nvPr/>
        </p:nvSpPr>
        <p:spPr>
          <a:xfrm>
            <a:off x="502920" y="1143000"/>
            <a:ext cx="11185855" cy="786384"/>
          </a:xfrm>
          <a:prstGeom prst="roundRect">
            <a:avLst>
              <a:gd name="adj" fmla="val 4000"/>
            </a:avLst>
          </a:prstGeom>
          <a:solidFill>
            <a:srgbClr val="161F33"/>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143000"/>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1216152"/>
            <a:ext cx="3520440" cy="640080"/>
          </a:xfrm>
          <a:prstGeom prst="rect">
            <a:avLst/>
          </a:prstGeom>
          <a:noFill/>
        </p:spPr>
        <p:txBody>
          <a:bodyPr wrap="square" lIns="45720" rIns="45720" tIns="27432" bIns="27432">
            <a:spAutoFit/>
          </a:bodyPr>
          <a:lstStyle/>
          <a:p>
            <a:pPr algn="l">
              <a:defRPr sz="1100" b="1">
                <a:solidFill>
                  <a:srgbClr val="F59E0B"/>
                </a:solidFill>
                <a:latin typeface="Segoe UI"/>
              </a:defRPr>
            </a:pPr>
            <a:r>
              <a:t>HTML Form Nesting Bug (Update Triggering Delete)</a:t>
            </a:r>
          </a:p>
        </p:txBody>
      </p:sp>
      <p:sp>
        <p:nvSpPr>
          <p:cNvPr id="15" name="TextBox 14"/>
          <p:cNvSpPr txBox="1"/>
          <p:nvPr/>
        </p:nvSpPr>
        <p:spPr>
          <a:xfrm>
            <a:off x="4370832" y="1216152"/>
            <a:ext cx="7178040" cy="640080"/>
          </a:xfrm>
          <a:prstGeom prst="rect">
            <a:avLst/>
          </a:prstGeom>
          <a:noFill/>
        </p:spPr>
        <p:txBody>
          <a:bodyPr wrap="square" lIns="45720" rIns="45720" tIns="27432" bIns="27432">
            <a:spAutoFit/>
          </a:bodyPr>
          <a:lstStyle/>
          <a:p>
            <a:pPr algn="l">
              <a:defRPr sz="1019" b="0">
                <a:solidFill>
                  <a:srgbClr val="F8FAFC"/>
                </a:solidFill>
                <a:latin typeface="Segoe UI"/>
              </a:defRPr>
            </a:pPr>
            <a:r>
              <a:t>Placing the Delete &lt;form&gt; inside the Update &lt;form&gt; caused browser submit events to delete records on edit. Resolved by moving the delete form outside and binding the button via HTML5 form='delete-form'.</a:t>
            </a:r>
          </a:p>
        </p:txBody>
      </p:sp>
      <p:sp>
        <p:nvSpPr>
          <p:cNvPr id="16" name="Rounded Rectangle 15"/>
          <p:cNvSpPr/>
          <p:nvPr/>
        </p:nvSpPr>
        <p:spPr>
          <a:xfrm>
            <a:off x="502920" y="2002536"/>
            <a:ext cx="11185855" cy="786384"/>
          </a:xfrm>
          <a:prstGeom prst="roundRect">
            <a:avLst>
              <a:gd name="adj" fmla="val 4000"/>
            </a:avLst>
          </a:prstGeom>
          <a:solidFill>
            <a:srgbClr val="161F33"/>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002536"/>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2075688"/>
            <a:ext cx="3520440" cy="640080"/>
          </a:xfrm>
          <a:prstGeom prst="rect">
            <a:avLst/>
          </a:prstGeom>
          <a:noFill/>
        </p:spPr>
        <p:txBody>
          <a:bodyPr wrap="square" lIns="45720" rIns="45720" tIns="27432" bIns="27432">
            <a:spAutoFit/>
          </a:bodyPr>
          <a:lstStyle/>
          <a:p>
            <a:pPr algn="l">
              <a:defRPr sz="1100" b="1">
                <a:solidFill>
                  <a:srgbClr val="F59E0B"/>
                </a:solidFill>
                <a:latin typeface="Segoe UI"/>
              </a:defRPr>
            </a:pPr>
            <a:r>
              <a:t>Global TenantScope on Child &amp; Catalogue Tables</a:t>
            </a:r>
          </a:p>
        </p:txBody>
      </p:sp>
      <p:sp>
        <p:nvSpPr>
          <p:cNvPr id="19" name="TextBox 18"/>
          <p:cNvSpPr txBox="1"/>
          <p:nvPr/>
        </p:nvSpPr>
        <p:spPr>
          <a:xfrm>
            <a:off x="4370832" y="2075688"/>
            <a:ext cx="7178040" cy="640080"/>
          </a:xfrm>
          <a:prstGeom prst="rect">
            <a:avLst/>
          </a:prstGeom>
          <a:noFill/>
        </p:spPr>
        <p:txBody>
          <a:bodyPr wrap="square" lIns="45720" rIns="45720" tIns="27432" bIns="27432">
            <a:spAutoFit/>
          </a:bodyPr>
          <a:lstStyle/>
          <a:p>
            <a:pPr algn="l">
              <a:defRPr sz="1019" b="0">
                <a:solidFill>
                  <a:srgbClr val="F8FAFC"/>
                </a:solidFill>
                <a:latin typeface="Segoe UI"/>
              </a:defRPr>
            </a:pPr>
            <a:r>
              <a:t>Applying TenantScope to AssessmentResponse and ISO Control tables caused SQL column errors because they lack direct tenant_id columns. Resolved by adding a Schema::hasColumn('tenant_id') guard and scoping via parent Assessment.</a:t>
            </a:r>
          </a:p>
        </p:txBody>
      </p:sp>
      <p:sp>
        <p:nvSpPr>
          <p:cNvPr id="20" name="Rounded Rectangle 19"/>
          <p:cNvSpPr/>
          <p:nvPr/>
        </p:nvSpPr>
        <p:spPr>
          <a:xfrm>
            <a:off x="502920" y="2862072"/>
            <a:ext cx="11185855" cy="786384"/>
          </a:xfrm>
          <a:prstGeom prst="roundRect">
            <a:avLst>
              <a:gd name="adj" fmla="val 4000"/>
            </a:avLst>
          </a:prstGeom>
          <a:solidFill>
            <a:srgbClr val="161F33"/>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2862072"/>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935224"/>
            <a:ext cx="3520440" cy="640080"/>
          </a:xfrm>
          <a:prstGeom prst="rect">
            <a:avLst/>
          </a:prstGeom>
          <a:noFill/>
        </p:spPr>
        <p:txBody>
          <a:bodyPr wrap="square" lIns="45720" rIns="45720" tIns="27432" bIns="27432">
            <a:spAutoFit/>
          </a:bodyPr>
          <a:lstStyle/>
          <a:p>
            <a:pPr algn="l">
              <a:defRPr sz="1100" b="1">
                <a:solidFill>
                  <a:srgbClr val="F59E0B"/>
                </a:solidFill>
                <a:latin typeface="Segoe UI"/>
              </a:defRPr>
            </a:pPr>
            <a:r>
              <a:t>Phase 3 vs Phase 7 Route &amp; Foreign Key Collision</a:t>
            </a:r>
          </a:p>
        </p:txBody>
      </p:sp>
      <p:sp>
        <p:nvSpPr>
          <p:cNvPr id="23" name="TextBox 22"/>
          <p:cNvSpPr txBox="1"/>
          <p:nvPr/>
        </p:nvSpPr>
        <p:spPr>
          <a:xfrm>
            <a:off x="4370832" y="2935224"/>
            <a:ext cx="7178040" cy="640080"/>
          </a:xfrm>
          <a:prstGeom prst="rect">
            <a:avLst/>
          </a:prstGeom>
          <a:noFill/>
        </p:spPr>
        <p:txBody>
          <a:bodyPr wrap="square" lIns="45720" rIns="45720" tIns="27432" bIns="27432">
            <a:spAutoFit/>
          </a:bodyPr>
          <a:lstStyle/>
          <a:p>
            <a:pPr algn="l">
              <a:defRPr sz="1019" b="0">
                <a:solidFill>
                  <a:srgbClr val="F8FAFC"/>
                </a:solidFill>
                <a:latin typeface="Segoe UI"/>
              </a:defRPr>
            </a:pPr>
            <a:r>
              <a:t>Extending risk_treatment_plans for the dedicated Risk model conflicted with Phase 3 treatments.store routes and NOT NULL FKs. Resolved by making risk_assessment_id nullable and namespacing Phase 7 routes under risks.treatments.*.</a:t>
            </a:r>
          </a:p>
        </p:txBody>
      </p:sp>
      <p:sp>
        <p:nvSpPr>
          <p:cNvPr id="24" name="Rounded Rectangle 23"/>
          <p:cNvSpPr/>
          <p:nvPr/>
        </p:nvSpPr>
        <p:spPr>
          <a:xfrm>
            <a:off x="502920" y="3721608"/>
            <a:ext cx="11185855" cy="786384"/>
          </a:xfrm>
          <a:prstGeom prst="roundRect">
            <a:avLst>
              <a:gd name="adj" fmla="val 4000"/>
            </a:avLst>
          </a:prstGeom>
          <a:solidFill>
            <a:srgbClr val="161F33"/>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721608"/>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794760"/>
            <a:ext cx="3520440" cy="640080"/>
          </a:xfrm>
          <a:prstGeom prst="rect">
            <a:avLst/>
          </a:prstGeom>
          <a:noFill/>
        </p:spPr>
        <p:txBody>
          <a:bodyPr wrap="square" lIns="45720" rIns="45720" tIns="27432" bIns="27432">
            <a:spAutoFit/>
          </a:bodyPr>
          <a:lstStyle/>
          <a:p>
            <a:pPr algn="l">
              <a:defRPr sz="1100" b="1">
                <a:solidFill>
                  <a:srgbClr val="F59E0B"/>
                </a:solidFill>
                <a:latin typeface="Segoe UI"/>
              </a:defRPr>
            </a:pPr>
            <a:r>
              <a:t>Asset Owner String vs Eloquent Relationship Crash</a:t>
            </a:r>
          </a:p>
        </p:txBody>
      </p:sp>
      <p:sp>
        <p:nvSpPr>
          <p:cNvPr id="27" name="TextBox 26"/>
          <p:cNvSpPr txBox="1"/>
          <p:nvPr/>
        </p:nvSpPr>
        <p:spPr>
          <a:xfrm>
            <a:off x="4370832" y="3794760"/>
            <a:ext cx="7178040" cy="640080"/>
          </a:xfrm>
          <a:prstGeom prst="rect">
            <a:avLst/>
          </a:prstGeom>
          <a:noFill/>
        </p:spPr>
        <p:txBody>
          <a:bodyPr wrap="square" lIns="45720" rIns="45720" tIns="27432" bIns="27432">
            <a:spAutoFit/>
          </a:bodyPr>
          <a:lstStyle/>
          <a:p>
            <a:pPr algn="l">
              <a:defRPr sz="1019" b="0">
                <a:solidFill>
                  <a:srgbClr val="F8FAFC"/>
                </a:solidFill>
                <a:latin typeface="Segoe UI"/>
              </a:defRPr>
            </a:pPr>
            <a:r>
              <a:t>Calling Asset::with('owner') on the Executive Dashboard threw a relation exception because assets.owner stores a string name. Resolved by removing invalid eager loading in ReportRepository and defensive model checks.</a:t>
            </a:r>
          </a:p>
        </p:txBody>
      </p:sp>
      <p:sp>
        <p:nvSpPr>
          <p:cNvPr id="28" name="Rounded Rectangle 27"/>
          <p:cNvSpPr/>
          <p:nvPr/>
        </p:nvSpPr>
        <p:spPr>
          <a:xfrm>
            <a:off x="502920" y="4581144"/>
            <a:ext cx="11185855" cy="786384"/>
          </a:xfrm>
          <a:prstGeom prst="roundRect">
            <a:avLst>
              <a:gd name="adj" fmla="val 4000"/>
            </a:avLst>
          </a:prstGeom>
          <a:solidFill>
            <a:srgbClr val="161F33"/>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4581144"/>
            <a:ext cx="82296"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4654296"/>
            <a:ext cx="3520440" cy="640080"/>
          </a:xfrm>
          <a:prstGeom prst="rect">
            <a:avLst/>
          </a:prstGeom>
          <a:noFill/>
        </p:spPr>
        <p:txBody>
          <a:bodyPr wrap="square" lIns="45720" rIns="45720" tIns="27432" bIns="27432">
            <a:spAutoFit/>
          </a:bodyPr>
          <a:lstStyle/>
          <a:p>
            <a:pPr algn="l">
              <a:defRPr sz="1100" b="1">
                <a:solidFill>
                  <a:srgbClr val="F59E0B"/>
                </a:solidFill>
                <a:latin typeface="Segoe UI"/>
              </a:defRPr>
            </a:pPr>
            <a:r>
              <a:t>Shared Hosting (InfinityFree) Vite &amp; Document Root</a:t>
            </a:r>
          </a:p>
        </p:txBody>
      </p:sp>
      <p:sp>
        <p:nvSpPr>
          <p:cNvPr id="31" name="TextBox 30"/>
          <p:cNvSpPr txBox="1"/>
          <p:nvPr/>
        </p:nvSpPr>
        <p:spPr>
          <a:xfrm>
            <a:off x="4370832" y="4654296"/>
            <a:ext cx="7178040" cy="640080"/>
          </a:xfrm>
          <a:prstGeom prst="rect">
            <a:avLst/>
          </a:prstGeom>
          <a:noFill/>
        </p:spPr>
        <p:txBody>
          <a:bodyPr wrap="square" lIns="45720" rIns="45720" tIns="27432" bIns="27432">
            <a:spAutoFit/>
          </a:bodyPr>
          <a:lstStyle/>
          <a:p>
            <a:pPr algn="l">
              <a:defRPr sz="1019" b="0">
                <a:solidFill>
                  <a:srgbClr val="F8FAFC"/>
                </a:solidFill>
                <a:latin typeface="Segoe UI"/>
              </a:defRPr>
            </a:pPr>
            <a:r>
              <a:t>Standard Laravel public/ folder structure and lingering public/hot files caused 404 asset errors in production. Resolved by shifting public entry points into htdocs/, compiling production Vite bundles, and removing hot file.</a:t>
            </a:r>
          </a:p>
        </p:txBody>
      </p:sp>
      <p:sp>
        <p:nvSpPr>
          <p:cNvPr id="32"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PRODUCTION DEBUGGING &amp; DEFENSIVE ENGINEERING:  </a:t>
            </a:r>
            <a:r>
              <a:rPr sz="1100" b="0">
                <a:solidFill>
                  <a:srgbClr val="F8FAFC"/>
                </a:solidFill>
                <a:latin typeface="Segoe UI"/>
              </a:rPr>
              <a:t>Resolving these 15+ cross-phase integration bugs—ranging from HTML5 form attribute binding to defensive repository queries—ensured a rock-solid production deployment.</a:t>
            </a:r>
          </a:p>
        </p:txBody>
      </p:sp>
      <p:sp>
        <p:nvSpPr>
          <p:cNvPr id="34" name="Rectangle 33"/>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6" name="TextBox 35"/>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14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unit_badge"/>
          <p:cNvSpPr/>
          <p:nvPr/>
        </p:nvSpPr>
        <p:spPr>
          <a:xfrm>
            <a:off x="502920" y="365760"/>
            <a:ext cx="2514600" cy="347472"/>
          </a:xfrm>
          <a:prstGeom prst="roundRect">
            <a:avLst>
              <a:gd name="adj" fmla="val 4000"/>
            </a:avLst>
          </a:prstGeom>
          <a:solidFill>
            <a:srgbClr val="1E293B"/>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93192"/>
            <a:ext cx="2423160" cy="292608"/>
          </a:xfrm>
          <a:prstGeom prst="rect">
            <a:avLst/>
          </a:prstGeom>
          <a:noFill/>
        </p:spPr>
        <p:txBody>
          <a:bodyPr wrap="square" lIns="45720" rIns="45720" tIns="27432" bIns="27432">
            <a:spAutoFit/>
          </a:bodyPr>
          <a:lstStyle/>
          <a:p>
            <a:pPr algn="ctr">
              <a:defRPr sz="1019" b="1">
                <a:solidFill>
                  <a:srgbClr val="06B6D4"/>
                </a:solidFill>
                <a:latin typeface="Segoe UI"/>
              </a:defRPr>
            </a:pPr>
            <a:r>
              <a:t>FUTURE ROADMAP</a:t>
            </a:r>
          </a:p>
        </p:txBody>
      </p:sp>
      <p:sp>
        <p:nvSpPr>
          <p:cNvPr id="4" name="!!slide_title"/>
          <p:cNvSpPr txBox="1"/>
          <p:nvPr/>
        </p:nvSpPr>
        <p:spPr>
          <a:xfrm>
            <a:off x="3127248" y="329184"/>
            <a:ext cx="7726679" cy="384048"/>
          </a:xfrm>
          <a:prstGeom prst="rect">
            <a:avLst/>
          </a:prstGeom>
          <a:noFill/>
        </p:spPr>
        <p:txBody>
          <a:bodyPr wrap="square" lIns="45720" rIns="45720" tIns="27432" bIns="27432">
            <a:spAutoFit/>
          </a:bodyPr>
          <a:lstStyle/>
          <a:p>
            <a:pPr algn="l">
              <a:defRPr sz="1950" b="1">
                <a:solidFill>
                  <a:srgbClr val="F8FAFC"/>
                </a:solidFill>
                <a:latin typeface="Segoe UI"/>
              </a:defRPr>
            </a:pPr>
            <a:r>
              <a:t>Architectural Lessons &amp; Phase 9 Roadmap (REST API &amp; Cloud)</a:t>
            </a:r>
          </a:p>
        </p:txBody>
      </p:sp>
      <p:sp>
        <p:nvSpPr>
          <p:cNvPr id="5" name="TextBox 4"/>
          <p:cNvSpPr txBox="1"/>
          <p:nvPr/>
        </p:nvSpPr>
        <p:spPr>
          <a:xfrm>
            <a:off x="3127248" y="694944"/>
            <a:ext cx="7726679" cy="292608"/>
          </a:xfrm>
          <a:prstGeom prst="rect">
            <a:avLst/>
          </a:prstGeom>
          <a:noFill/>
        </p:spPr>
        <p:txBody>
          <a:bodyPr wrap="square" lIns="45720" rIns="45720" tIns="27432" bIns="27432">
            <a:spAutoFit/>
          </a:bodyPr>
          <a:lstStyle/>
          <a:p>
            <a:pPr algn="l">
              <a:defRPr sz="1100" b="1">
                <a:solidFill>
                  <a:srgbClr val="06B6D4"/>
                </a:solidFill>
                <a:latin typeface="Segoe UI"/>
              </a:defRPr>
            </a:pPr>
            <a:r>
              <a:t>Next-generation enterprise capabilities ready to plug into our existing Service &amp; DTO architecture</a:t>
            </a:r>
          </a:p>
        </p:txBody>
      </p:sp>
      <p:sp>
        <p:nvSpPr>
          <p:cNvPr id="6" name="Rectangle 5"/>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gress_pill"/>
          <p:cNvSpPr/>
          <p:nvPr/>
        </p:nvSpPr>
        <p:spPr>
          <a:xfrm>
            <a:off x="10189464" y="155448"/>
            <a:ext cx="804672" cy="1371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ode_1"/>
          <p:cNvSpPr/>
          <p:nvPr/>
        </p:nvSpPr>
        <p:spPr>
          <a:xfrm>
            <a:off x="11814048" y="128016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ode_2"/>
          <p:cNvSpPr/>
          <p:nvPr/>
        </p:nvSpPr>
        <p:spPr>
          <a:xfrm>
            <a:off x="11978640" y="1691639"/>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ode_3"/>
          <p:cNvSpPr/>
          <p:nvPr/>
        </p:nvSpPr>
        <p:spPr>
          <a:xfrm>
            <a:off x="146304" y="4663440"/>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hero_3d_visual" descr="logo-icon.png"/>
          <p:cNvPicPr>
            <a:picLocks noChangeAspect="1"/>
          </p:cNvPicPr>
          <p:nvPr/>
        </p:nvPicPr>
        <p:blipFill>
          <a:blip r:embed="rId2"/>
          <a:stretch>
            <a:fillRect/>
          </a:stretch>
        </p:blipFill>
        <p:spPr>
          <a:xfrm>
            <a:off x="10972800" y="329184"/>
            <a:ext cx="658368" cy="658368"/>
          </a:xfrm>
          <a:prstGeom prst="rect">
            <a:avLst/>
          </a:prstGeom>
        </p:spPr>
      </p:pic>
      <p:sp>
        <p:nvSpPr>
          <p:cNvPr id="12" name="!!focus_card"/>
          <p:cNvSpPr/>
          <p:nvPr/>
        </p:nvSpPr>
        <p:spPr>
          <a:xfrm>
            <a:off x="50292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1143000"/>
            <a:ext cx="3291840"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4088" y="1325880"/>
            <a:ext cx="438912" cy="438912"/>
          </a:xfrm>
          <a:prstGeom prst="roundRect">
            <a:avLst>
              <a:gd name="adj" fmla="val 22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15" name="TextBox 14"/>
          <p:cNvSpPr txBox="1"/>
          <p:nvPr/>
        </p:nvSpPr>
        <p:spPr>
          <a:xfrm>
            <a:off x="123444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REST API v1 (Laravel Sanctum)</a:t>
            </a:r>
          </a:p>
        </p:txBody>
      </p:sp>
      <p:sp>
        <p:nvSpPr>
          <p:cNvPr id="16" name="TextBox 15"/>
          <p:cNvSpPr txBox="1"/>
          <p:nvPr/>
        </p:nvSpPr>
        <p:spPr>
          <a:xfrm>
            <a:off x="70408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Zero Business Logic Rewrite: </a:t>
            </a:r>
            <a:r>
              <a:rPr sz="1050">
                <a:solidFill>
                  <a:srgbClr val="F8FAFC"/>
                </a:solidFill>
                <a:latin typeface="Segoe UI"/>
              </a:rPr>
              <a:t>Thin /api/v1/ controllers will directly invoke existing Service &amp; DTO classes.</a:t>
            </a:r>
          </a:p>
          <a:p>
            <a:pPr>
              <a:spcAft>
                <a:spcPts val="450"/>
              </a:spcAft>
            </a:pPr>
            <a:r>
              <a:rPr sz="1050" b="1">
                <a:solidFill>
                  <a:srgbClr val="06B6D4"/>
                </a:solidFill>
                <a:latin typeface="Segoe UI"/>
              </a:rPr>
              <a:t>• Sanctum Token Auth: </a:t>
            </a:r>
            <a:r>
              <a:rPr sz="1050">
                <a:solidFill>
                  <a:srgbClr val="F8FAFC"/>
                </a:solidFill>
                <a:latin typeface="Segoe UI"/>
              </a:rPr>
              <a:t>Scoped API tokens per tenant with configurable rate limiting.</a:t>
            </a:r>
          </a:p>
          <a:p>
            <a:pPr>
              <a:spcAft>
                <a:spcPts val="450"/>
              </a:spcAft>
            </a:pPr>
            <a:r>
              <a:rPr sz="1050" b="1">
                <a:solidFill>
                  <a:srgbClr val="F59E0B"/>
                </a:solidFill>
                <a:latin typeface="Segoe UI"/>
              </a:rPr>
              <a:t>• JSON API Resources: </a:t>
            </a:r>
            <a:r>
              <a:rPr sz="1050">
                <a:solidFill>
                  <a:srgbClr val="F8FAFC"/>
                </a:solidFill>
                <a:latin typeface="Segoe UI"/>
              </a:rPr>
              <a:t>Standardized AssessmentResource, RiskResource, and SoAResource payloads.</a:t>
            </a:r>
          </a:p>
          <a:p>
            <a:pPr>
              <a:spcAft>
                <a:spcPts val="450"/>
              </a:spcAft>
            </a:pPr>
            <a:r>
              <a:rPr sz="1050" b="1">
                <a:solidFill>
                  <a:srgbClr val="8B95F6"/>
                </a:solidFill>
                <a:latin typeface="Segoe UI"/>
              </a:rPr>
              <a:t>• OpenAPI / Swagger Docs: </a:t>
            </a:r>
            <a:r>
              <a:rPr sz="1050">
                <a:solidFill>
                  <a:srgbClr val="F8FAFC"/>
                </a:solidFill>
                <a:latin typeface="Segoe UI"/>
              </a:rPr>
              <a:t>Complete Postman collection and interactive Swagger specification.</a:t>
            </a:r>
          </a:p>
        </p:txBody>
      </p:sp>
      <p:sp>
        <p:nvSpPr>
          <p:cNvPr id="17" name="!!secondary_card"/>
          <p:cNvSpPr/>
          <p:nvPr/>
        </p:nvSpPr>
        <p:spPr>
          <a:xfrm>
            <a:off x="4297680" y="1143000"/>
            <a:ext cx="3566160"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34840" y="1143000"/>
            <a:ext cx="3291840" cy="45720"/>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98848" y="1325880"/>
            <a:ext cx="438912" cy="438912"/>
          </a:xfrm>
          <a:prstGeom prst="roundRect">
            <a:avLst>
              <a:gd name="adj" fmla="val 22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0" name="TextBox 19"/>
          <p:cNvSpPr txBox="1"/>
          <p:nvPr/>
        </p:nvSpPr>
        <p:spPr>
          <a:xfrm>
            <a:off x="5029200" y="1362456"/>
            <a:ext cx="2697480" cy="365760"/>
          </a:xfrm>
          <a:prstGeom prst="rect">
            <a:avLst/>
          </a:prstGeom>
          <a:noFill/>
        </p:spPr>
        <p:txBody>
          <a:bodyPr wrap="square" lIns="45720" rIns="45720" tIns="27432" bIns="27432">
            <a:spAutoFit/>
          </a:bodyPr>
          <a:lstStyle/>
          <a:p>
            <a:pPr algn="l">
              <a:defRPr sz="1350" b="1">
                <a:solidFill>
                  <a:srgbClr val="F8FAFC"/>
                </a:solidFill>
                <a:latin typeface="Segoe UI"/>
              </a:defRPr>
            </a:pPr>
            <a:r>
              <a:t>Granular Audit Trail &amp; Security</a:t>
            </a:r>
          </a:p>
        </p:txBody>
      </p:sp>
      <p:sp>
        <p:nvSpPr>
          <p:cNvPr id="21" name="TextBox 20"/>
          <p:cNvSpPr txBox="1"/>
          <p:nvPr/>
        </p:nvSpPr>
        <p:spPr>
          <a:xfrm>
            <a:off x="4498848" y="1892807"/>
            <a:ext cx="3163824" cy="3364991"/>
          </a:xfrm>
          <a:prstGeom prst="rect">
            <a:avLst/>
          </a:prstGeom>
          <a:noFill/>
        </p:spPr>
        <p:txBody>
          <a:bodyPr wrap="square" lIns="0" tIns="0">
            <a:spAutoFit/>
          </a:bodyPr>
          <a:lstStyle/>
          <a:p>
            <a:pPr>
              <a:spcAft>
                <a:spcPts val="450"/>
              </a:spcAft>
            </a:pPr>
            <a:r>
              <a:rPr sz="1050" b="1">
                <a:solidFill>
                  <a:srgbClr val="10B981"/>
                </a:solidFill>
                <a:latin typeface="Segoe UI"/>
              </a:rPr>
              <a:t>• Owen-it Auditing UI: </a:t>
            </a:r>
            <a:r>
              <a:rPr sz="1050">
                <a:solidFill>
                  <a:srgbClr val="F8FAFC"/>
                </a:solidFill>
                <a:latin typeface="Segoe UI"/>
              </a:rPr>
              <a:t>Visual diff viewer showing old_values vs new_values for every control &amp; risk change.</a:t>
            </a:r>
          </a:p>
          <a:p>
            <a:pPr>
              <a:spcAft>
                <a:spcPts val="450"/>
              </a:spcAft>
            </a:pPr>
            <a:r>
              <a:rPr sz="1050" b="1">
                <a:solidFill>
                  <a:srgbClr val="EF4444"/>
                </a:solidFill>
                <a:latin typeface="Segoe UI"/>
              </a:rPr>
              <a:t>• Multi-Factor Auth (MFA): </a:t>
            </a:r>
            <a:r>
              <a:rPr sz="1050">
                <a:solidFill>
                  <a:srgbClr val="F8FAFC"/>
                </a:solidFill>
                <a:latin typeface="Segoe UI"/>
              </a:rPr>
              <a:t>TOTP authenticator app enforcement for Owner and Admin roles.</a:t>
            </a:r>
          </a:p>
          <a:p>
            <a:pPr>
              <a:spcAft>
                <a:spcPts val="450"/>
              </a:spcAft>
            </a:pPr>
            <a:r>
              <a:rPr sz="1050" b="1">
                <a:solidFill>
                  <a:srgbClr val="F59E0B"/>
                </a:solidFill>
                <a:latin typeface="Segoe UI"/>
              </a:rPr>
              <a:t>• Enterprise SSO: </a:t>
            </a:r>
            <a:r>
              <a:rPr sz="1050">
                <a:solidFill>
                  <a:srgbClr val="F8FAFC"/>
                </a:solidFill>
                <a:latin typeface="Segoe UI"/>
              </a:rPr>
              <a:t>SAML 2.0 and OAuth2 (Microsoft Entra ID / Google Workspace) login integration.</a:t>
            </a:r>
          </a:p>
          <a:p>
            <a:pPr>
              <a:spcAft>
                <a:spcPts val="450"/>
              </a:spcAft>
            </a:pPr>
            <a:r>
              <a:rPr sz="1050" b="1">
                <a:solidFill>
                  <a:srgbClr val="06B6D4"/>
                </a:solidFill>
                <a:latin typeface="Segoe UI"/>
              </a:rPr>
              <a:t>• Unified Risk Model Cleanup: </a:t>
            </a:r>
            <a:r>
              <a:rPr sz="1050">
                <a:solidFill>
                  <a:srgbClr val="F8FAFC"/>
                </a:solidFill>
                <a:latin typeface="Segoe UI"/>
              </a:rPr>
              <a:t>Deprecating legacy Phase 3 risk table in favor of the Phase 7 Risk engine.</a:t>
            </a:r>
          </a:p>
        </p:txBody>
      </p:sp>
      <p:sp>
        <p:nvSpPr>
          <p:cNvPr id="22" name="Rounded Rectangle 21"/>
          <p:cNvSpPr/>
          <p:nvPr/>
        </p:nvSpPr>
        <p:spPr>
          <a:xfrm>
            <a:off x="8092440" y="1143000"/>
            <a:ext cx="3593592" cy="4206240"/>
          </a:xfrm>
          <a:prstGeom prst="roundRect">
            <a:avLst>
              <a:gd name="adj" fmla="val 6000"/>
            </a:avLst>
          </a:prstGeom>
          <a:solidFill>
            <a:srgbClr val="161F33"/>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229600" y="1143000"/>
            <a:ext cx="3319272"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93608" y="1325880"/>
            <a:ext cx="438912" cy="438912"/>
          </a:xfrm>
          <a:prstGeom prst="roundRect">
            <a:avLst>
              <a:gd name="adj" fmla="val 22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0B0F19"/>
                </a:solidFill>
              </a:defRPr>
            </a:pPr>
            <a:r>
              <a:t>☁️</a:t>
            </a:r>
          </a:p>
        </p:txBody>
      </p:sp>
      <p:sp>
        <p:nvSpPr>
          <p:cNvPr id="25" name="TextBox 24"/>
          <p:cNvSpPr txBox="1"/>
          <p:nvPr/>
        </p:nvSpPr>
        <p:spPr>
          <a:xfrm>
            <a:off x="8823960" y="1362456"/>
            <a:ext cx="2724912" cy="365760"/>
          </a:xfrm>
          <a:prstGeom prst="rect">
            <a:avLst/>
          </a:prstGeom>
          <a:noFill/>
        </p:spPr>
        <p:txBody>
          <a:bodyPr wrap="square" lIns="45720" rIns="45720" tIns="27432" bIns="27432">
            <a:spAutoFit/>
          </a:bodyPr>
          <a:lstStyle/>
          <a:p>
            <a:pPr algn="l">
              <a:defRPr sz="1350" b="1">
                <a:solidFill>
                  <a:srgbClr val="F8FAFC"/>
                </a:solidFill>
                <a:latin typeface="Segoe UI"/>
              </a:defRPr>
            </a:pPr>
            <a:r>
              <a:t>Cloud Telemetry &amp; Automation</a:t>
            </a:r>
          </a:p>
        </p:txBody>
      </p:sp>
      <p:sp>
        <p:nvSpPr>
          <p:cNvPr id="26" name="TextBox 25"/>
          <p:cNvSpPr txBox="1"/>
          <p:nvPr/>
        </p:nvSpPr>
        <p:spPr>
          <a:xfrm>
            <a:off x="8293608" y="1892807"/>
            <a:ext cx="3191256" cy="3364991"/>
          </a:xfrm>
          <a:prstGeom prst="rect">
            <a:avLst/>
          </a:prstGeom>
          <a:noFill/>
        </p:spPr>
        <p:txBody>
          <a:bodyPr wrap="square" lIns="0" tIns="0">
            <a:spAutoFit/>
          </a:bodyPr>
          <a:lstStyle/>
          <a:p>
            <a:pPr>
              <a:spcAft>
                <a:spcPts val="450"/>
              </a:spcAft>
            </a:pPr>
            <a:r>
              <a:rPr sz="1050" b="1">
                <a:solidFill>
                  <a:srgbClr val="10B981"/>
                </a:solidFill>
                <a:latin typeface="Segoe UI"/>
              </a:rPr>
              <a:t>• Automated Evidence Collection: </a:t>
            </a:r>
            <a:r>
              <a:rPr sz="1050">
                <a:solidFill>
                  <a:srgbClr val="F8FAFC"/>
                </a:solidFill>
                <a:latin typeface="Segoe UI"/>
              </a:rPr>
              <a:t>AWS IAM, GitHub &amp; Azure connectors to auto-verify Annex A.8 technical controls.</a:t>
            </a:r>
          </a:p>
          <a:p>
            <a:pPr>
              <a:spcAft>
                <a:spcPts val="450"/>
              </a:spcAft>
            </a:pPr>
            <a:r>
              <a:rPr sz="1050" b="1">
                <a:solidFill>
                  <a:srgbClr val="06B6D4"/>
                </a:solidFill>
                <a:latin typeface="Segoe UI"/>
              </a:rPr>
              <a:t>• Web-Cron &amp; Queue Workers: </a:t>
            </a:r>
            <a:r>
              <a:rPr sz="1050">
                <a:solidFill>
                  <a:srgbClr val="F8FAFC"/>
                </a:solidFill>
                <a:latin typeface="Segoe UI"/>
              </a:rPr>
              <a:t>Dedicated Redis + Supervisor workers and token-authenticated web cron triggers.</a:t>
            </a:r>
          </a:p>
          <a:p>
            <a:pPr>
              <a:spcAft>
                <a:spcPts val="450"/>
              </a:spcAft>
            </a:pPr>
            <a:r>
              <a:rPr sz="1050" b="1">
                <a:solidFill>
                  <a:srgbClr val="F59E0B"/>
                </a:solidFill>
                <a:latin typeface="Segoe UI"/>
              </a:rPr>
              <a:t>• Slack &amp; MS Teams Webhooks: </a:t>
            </a:r>
            <a:r>
              <a:rPr sz="1050">
                <a:solidFill>
                  <a:srgbClr val="F8FAFC"/>
                </a:solidFill>
                <a:latin typeface="Segoe UI"/>
              </a:rPr>
              <a:t>Real-time channel alerts when critical risks or overdue treatments occur.</a:t>
            </a:r>
          </a:p>
          <a:p>
            <a:pPr>
              <a:spcAft>
                <a:spcPts val="450"/>
              </a:spcAft>
            </a:pPr>
            <a:r>
              <a:rPr sz="1050" b="1">
                <a:solidFill>
                  <a:srgbClr val="8B95F6"/>
                </a:solidFill>
                <a:latin typeface="Segoe UI"/>
              </a:rPr>
              <a:t>• AI Control Copilot: </a:t>
            </a:r>
            <a:r>
              <a:rPr sz="1050">
                <a:solidFill>
                  <a:srgbClr val="F8FAFC"/>
                </a:solidFill>
                <a:latin typeface="Segoe UI"/>
              </a:rPr>
              <a:t>LLM-assisted gap remediation advice and policy draft generation.</a:t>
            </a:r>
          </a:p>
        </p:txBody>
      </p:sp>
      <p:sp>
        <p:nvSpPr>
          <p:cNvPr id="27" name="!!insight_strip"/>
          <p:cNvSpPr/>
          <p:nvPr/>
        </p:nvSpPr>
        <p:spPr>
          <a:xfrm>
            <a:off x="502920" y="5532120"/>
            <a:ext cx="11185855" cy="804672"/>
          </a:xfrm>
          <a:prstGeom prst="roundRect">
            <a:avLst>
              <a:gd name="adj" fmla="val 4000"/>
            </a:avLst>
          </a:prstGeom>
          <a:solidFill>
            <a:srgbClr val="172554"/>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605272"/>
            <a:ext cx="10835640" cy="694944"/>
          </a:xfrm>
          <a:prstGeom prst="rect">
            <a:avLst/>
          </a:prstGeom>
          <a:noFill/>
        </p:spPr>
        <p:txBody>
          <a:bodyPr wrap="square">
            <a:spAutoFit/>
          </a:bodyPr>
          <a:lstStyle/>
          <a:p>
            <a:pPr>
              <a:spcAft>
                <a:spcPts val="200"/>
              </a:spcAft>
            </a:pPr>
            <a:r>
              <a:rPr sz="1100" b="1">
                <a:solidFill>
                  <a:srgbClr val="F59E0B"/>
                </a:solidFill>
                <a:latin typeface="Segoe UI"/>
              </a:rPr>
              <a:t>💡 WHY CLEAN ARCHITECTURE PAYS OFF IN PHASE 9:  </a:t>
            </a:r>
            <a:r>
              <a:rPr sz="1100" b="0">
                <a:solidFill>
                  <a:srgbClr val="F8FAFC"/>
                </a:solidFill>
                <a:latin typeface="Segoe UI"/>
              </a:rPr>
              <a:t>Because 100% of our compliance scoring, SoA generation, and risk calculations already live in Service classes accepting DTOs, building the Phase 9 REST API requires only thin API controllers and Sanctum middleware.</a:t>
            </a:r>
          </a:p>
        </p:txBody>
      </p:sp>
      <p:sp>
        <p:nvSpPr>
          <p:cNvPr id="29" name="Rectangle 28"/>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1" name="TextBox 30"/>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15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focus_card"/>
          <p:cNvSpPr/>
          <p:nvPr/>
        </p:nvSpPr>
        <p:spPr>
          <a:xfrm>
            <a:off x="502920" y="475488"/>
            <a:ext cx="11185855" cy="5687568"/>
          </a:xfrm>
          <a:prstGeom prst="roundRect">
            <a:avLst>
              <a:gd name="adj" fmla="val 4000"/>
            </a:avLst>
          </a:prstGeom>
          <a:solidFill>
            <a:srgbClr val="161F33"/>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unit_badge"/>
          <p:cNvSpPr/>
          <p:nvPr/>
        </p:nvSpPr>
        <p:spPr>
          <a:xfrm>
            <a:off x="822960" y="768096"/>
            <a:ext cx="5852160" cy="384048"/>
          </a:xfrm>
          <a:prstGeom prst="roundRect">
            <a:avLst>
              <a:gd name="adj" fmla="val 4000"/>
            </a:avLst>
          </a:prstGeom>
          <a:solidFill>
            <a:srgbClr val="1E293B"/>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813816"/>
            <a:ext cx="5760720" cy="292608"/>
          </a:xfrm>
          <a:prstGeom prst="rect">
            <a:avLst/>
          </a:prstGeom>
          <a:noFill/>
        </p:spPr>
        <p:txBody>
          <a:bodyPr wrap="square" lIns="45720" rIns="45720" tIns="27432" bIns="27432">
            <a:spAutoFit/>
          </a:bodyPr>
          <a:lstStyle/>
          <a:p>
            <a:pPr algn="ctr">
              <a:defRPr sz="1080" b="1">
                <a:solidFill>
                  <a:srgbClr val="06B6D4"/>
                </a:solidFill>
                <a:latin typeface="Segoe UI"/>
              </a:defRPr>
            </a:pPr>
            <a:r>
              <a:t>ENTERPRISE CAPSTONE  •  ALL 8 DEVELOPMENT PHASES COMPLETED</a:t>
            </a:r>
          </a:p>
        </p:txBody>
      </p:sp>
      <p:sp>
        <p:nvSpPr>
          <p:cNvPr id="5" name="!!slide_title"/>
          <p:cNvSpPr txBox="1"/>
          <p:nvPr/>
        </p:nvSpPr>
        <p:spPr>
          <a:xfrm>
            <a:off x="822960" y="1298448"/>
            <a:ext cx="7132320" cy="530352"/>
          </a:xfrm>
          <a:prstGeom prst="rect">
            <a:avLst/>
          </a:prstGeom>
          <a:noFill/>
        </p:spPr>
        <p:txBody>
          <a:bodyPr wrap="square" lIns="45720" rIns="45720" tIns="27432" bIns="27432">
            <a:spAutoFit/>
          </a:bodyPr>
          <a:lstStyle/>
          <a:p>
            <a:pPr algn="l">
              <a:defRPr sz="2800" b="1">
                <a:solidFill>
                  <a:srgbClr val="F8FAFC"/>
                </a:solidFill>
                <a:latin typeface="Segoe UI"/>
              </a:defRPr>
            </a:pPr>
            <a:r>
              <a:t>THANK YOU! QUESTIONS &amp; LIVE DEMO</a:t>
            </a:r>
          </a:p>
        </p:txBody>
      </p:sp>
      <p:sp>
        <p:nvSpPr>
          <p:cNvPr id="6" name="TextBox 5"/>
          <p:cNvSpPr txBox="1"/>
          <p:nvPr/>
        </p:nvSpPr>
        <p:spPr>
          <a:xfrm>
            <a:off x="822960" y="1847088"/>
            <a:ext cx="7132320" cy="329184"/>
          </a:xfrm>
          <a:prstGeom prst="rect">
            <a:avLst/>
          </a:prstGeom>
          <a:noFill/>
        </p:spPr>
        <p:txBody>
          <a:bodyPr wrap="square" lIns="45720" rIns="45720" tIns="27432" bIns="27432">
            <a:spAutoFit/>
          </a:bodyPr>
          <a:lstStyle/>
          <a:p>
            <a:pPr algn="l">
              <a:defRPr sz="1450" b="1">
                <a:solidFill>
                  <a:srgbClr val="10B981"/>
                </a:solidFill>
                <a:latin typeface="Segoe UI"/>
              </a:defRPr>
            </a:pPr>
            <a:r>
              <a:t>Live Production URL: https://ismsaudit.infinityfree.io</a:t>
            </a:r>
          </a:p>
        </p:txBody>
      </p:sp>
      <p:sp>
        <p:nvSpPr>
          <p:cNvPr id="7" name="TextBox 6"/>
          <p:cNvSpPr txBox="1"/>
          <p:nvPr/>
        </p:nvSpPr>
        <p:spPr>
          <a:xfrm>
            <a:off x="822960" y="2194560"/>
            <a:ext cx="7132320" cy="329184"/>
          </a:xfrm>
          <a:prstGeom prst="rect">
            <a:avLst/>
          </a:prstGeom>
          <a:noFill/>
        </p:spPr>
        <p:txBody>
          <a:bodyPr wrap="square" lIns="45720" rIns="45720" tIns="27432" bIns="27432">
            <a:spAutoFit/>
          </a:bodyPr>
          <a:lstStyle/>
          <a:p>
            <a:pPr algn="l">
              <a:defRPr sz="1300" b="1">
                <a:solidFill>
                  <a:srgbClr val="06B6D4"/>
                </a:solidFill>
                <a:latin typeface="Segoe UI"/>
              </a:defRPr>
            </a:pPr>
            <a:r>
              <a:t>GitHub Repository: https://github.com/sangeetakaswan-dev/isms-tool</a:t>
            </a:r>
          </a:p>
        </p:txBody>
      </p:sp>
      <p:sp>
        <p:nvSpPr>
          <p:cNvPr id="8" name="TextBox 7"/>
          <p:cNvSpPr txBox="1"/>
          <p:nvPr/>
        </p:nvSpPr>
        <p:spPr>
          <a:xfrm>
            <a:off x="822960" y="2578608"/>
            <a:ext cx="7132320" cy="329184"/>
          </a:xfrm>
          <a:prstGeom prst="rect">
            <a:avLst/>
          </a:prstGeom>
          <a:noFill/>
        </p:spPr>
        <p:txBody>
          <a:bodyPr wrap="square" lIns="45720" rIns="45720" tIns="27432" bIns="27432">
            <a:spAutoFit/>
          </a:bodyPr>
          <a:lstStyle/>
          <a:p>
            <a:pPr algn="l">
              <a:defRPr sz="1100" b="1">
                <a:solidFill>
                  <a:srgbClr val="F59E0B"/>
                </a:solidFill>
                <a:latin typeface="Segoe UI"/>
              </a:defRPr>
            </a:pPr>
            <a:r>
              <a:t>Demo Credentials:  owner@demo.com  |  assessor@demo.com  |  viewer@demo.com  (Password: password)</a:t>
            </a:r>
          </a:p>
        </p:txBody>
      </p:sp>
      <p:sp>
        <p:nvSpPr>
          <p:cNvPr id="9" name="Rounded Rectangle 8"/>
          <p:cNvSpPr/>
          <p:nvPr/>
        </p:nvSpPr>
        <p:spPr>
          <a:xfrm>
            <a:off x="8275320" y="768096"/>
            <a:ext cx="3108960" cy="2423160"/>
          </a:xfrm>
          <a:prstGeom prst="roundRect">
            <a:avLst>
              <a:gd name="adj" fmla="val 4000"/>
            </a:avLst>
          </a:prstGeom>
          <a:solidFill>
            <a:srgbClr val="0B0F19"/>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01168"/>
            <a:ext cx="11185855" cy="4572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gress_pill"/>
          <p:cNvSpPr/>
          <p:nvPr/>
        </p:nvSpPr>
        <p:spPr>
          <a:xfrm>
            <a:off x="10881360" y="155448"/>
            <a:ext cx="804672" cy="137160"/>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ode_1"/>
          <p:cNvSpPr/>
          <p:nvPr/>
        </p:nvSpPr>
        <p:spPr>
          <a:xfrm>
            <a:off x="11814048" y="1783080"/>
            <a:ext cx="109728" cy="731520"/>
          </a:xfrm>
          <a:prstGeom prst="round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ode_2"/>
          <p:cNvSpPr/>
          <p:nvPr/>
        </p:nvSpPr>
        <p:spPr>
          <a:xfrm>
            <a:off x="11978640" y="2103120"/>
            <a:ext cx="109728" cy="54864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ode_3"/>
          <p:cNvSpPr/>
          <p:nvPr/>
        </p:nvSpPr>
        <p:spPr>
          <a:xfrm>
            <a:off x="146304" y="4069079"/>
            <a:ext cx="109728" cy="77724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hero_3d_visual" descr="logo-icon.png"/>
          <p:cNvPicPr>
            <a:picLocks noChangeAspect="1"/>
          </p:cNvPicPr>
          <p:nvPr/>
        </p:nvPicPr>
        <p:blipFill>
          <a:blip r:embed="rId2"/>
          <a:stretch>
            <a:fillRect/>
          </a:stretch>
        </p:blipFill>
        <p:spPr>
          <a:xfrm>
            <a:off x="8869680" y="896112"/>
            <a:ext cx="1920240" cy="1920240"/>
          </a:xfrm>
          <a:prstGeom prst="rect">
            <a:avLst/>
          </a:prstGeom>
        </p:spPr>
      </p:pic>
      <p:sp>
        <p:nvSpPr>
          <p:cNvPr id="16" name="TextBox 15"/>
          <p:cNvSpPr txBox="1"/>
          <p:nvPr/>
        </p:nvSpPr>
        <p:spPr>
          <a:xfrm>
            <a:off x="8366760" y="2889504"/>
            <a:ext cx="2926080" cy="237744"/>
          </a:xfrm>
          <a:prstGeom prst="rect">
            <a:avLst/>
          </a:prstGeom>
          <a:noFill/>
        </p:spPr>
        <p:txBody>
          <a:bodyPr wrap="square" lIns="45720" rIns="45720" tIns="27432" bIns="27432">
            <a:spAutoFit/>
          </a:bodyPr>
          <a:lstStyle/>
          <a:p>
            <a:pPr algn="ctr">
              <a:defRPr sz="950" b="1">
                <a:solidFill>
                  <a:srgbClr val="06B6D4"/>
                </a:solidFill>
                <a:latin typeface="Segoe UI"/>
              </a:defRPr>
            </a:pPr>
            <a:r>
              <a:t>ISMS Audit Platform Brand Identity</a:t>
            </a:r>
          </a:p>
        </p:txBody>
      </p:sp>
      <p:sp>
        <p:nvSpPr>
          <p:cNvPr id="17" name="Rounded Rectangle 16"/>
          <p:cNvSpPr/>
          <p:nvPr/>
        </p:nvSpPr>
        <p:spPr>
          <a:xfrm>
            <a:off x="822960" y="3364992"/>
            <a:ext cx="2487168" cy="1298448"/>
          </a:xfrm>
          <a:prstGeom prst="roundRect">
            <a:avLst>
              <a:gd name="adj" fmla="val 4000"/>
            </a:avLst>
          </a:prstGeom>
          <a:solidFill>
            <a:srgbClr val="1E293B"/>
          </a:solidFill>
          <a:ln w="22225">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456432"/>
            <a:ext cx="2340864" cy="320040"/>
          </a:xfrm>
          <a:prstGeom prst="rect">
            <a:avLst/>
          </a:prstGeom>
          <a:noFill/>
        </p:spPr>
        <p:txBody>
          <a:bodyPr wrap="square" lIns="45720" rIns="45720" tIns="27432" bIns="27432">
            <a:spAutoFit/>
          </a:bodyPr>
          <a:lstStyle/>
          <a:p>
            <a:pPr algn="ctr">
              <a:defRPr sz="1250" b="1">
                <a:solidFill>
                  <a:srgbClr val="06B6D4"/>
                </a:solidFill>
                <a:latin typeface="Segoe UI"/>
              </a:defRPr>
            </a:pPr>
            <a:r>
              <a:t>PHASE 1–2 • CORE</a:t>
            </a:r>
          </a:p>
        </p:txBody>
      </p:sp>
      <p:sp>
        <p:nvSpPr>
          <p:cNvPr id="19" name="TextBox 18"/>
          <p:cNvSpPr txBox="1"/>
          <p:nvPr/>
        </p:nvSpPr>
        <p:spPr>
          <a:xfrm>
            <a:off x="896112" y="3822191"/>
            <a:ext cx="2340864" cy="713232"/>
          </a:xfrm>
          <a:prstGeom prst="rect">
            <a:avLst/>
          </a:prstGeom>
          <a:noFill/>
        </p:spPr>
        <p:txBody>
          <a:bodyPr wrap="square" lIns="45720" rIns="45720" tIns="27432" bIns="27432">
            <a:spAutoFit/>
          </a:bodyPr>
          <a:lstStyle/>
          <a:p>
            <a:pPr algn="ctr">
              <a:defRPr sz="1019" b="0">
                <a:solidFill>
                  <a:srgbClr val="F8FAFC"/>
                </a:solidFill>
                <a:latin typeface="Segoe UI"/>
              </a:defRPr>
            </a:pPr>
            <a:r>
              <a:t>Multi-Tenant RBAC</a:t>
            </a:r>
            <a:br/>
            <a:r>
              <a:t>115 ISO Controls &amp; Scoring</a:t>
            </a:r>
          </a:p>
        </p:txBody>
      </p:sp>
      <p:sp>
        <p:nvSpPr>
          <p:cNvPr id="20" name="Rounded Rectangle 19"/>
          <p:cNvSpPr/>
          <p:nvPr/>
        </p:nvSpPr>
        <p:spPr>
          <a:xfrm>
            <a:off x="3493008" y="3364992"/>
            <a:ext cx="2487168" cy="1298448"/>
          </a:xfrm>
          <a:prstGeom prst="roundRect">
            <a:avLst>
              <a:gd name="adj" fmla="val 4000"/>
            </a:avLst>
          </a:prstGeom>
          <a:solidFill>
            <a:srgbClr val="1E293B"/>
          </a:solidFill>
          <a:ln w="2222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3456432"/>
            <a:ext cx="2340864" cy="320040"/>
          </a:xfrm>
          <a:prstGeom prst="rect">
            <a:avLst/>
          </a:prstGeom>
          <a:noFill/>
        </p:spPr>
        <p:txBody>
          <a:bodyPr wrap="square" lIns="45720" rIns="45720" tIns="27432" bIns="27432">
            <a:spAutoFit/>
          </a:bodyPr>
          <a:lstStyle/>
          <a:p>
            <a:pPr algn="ctr">
              <a:defRPr sz="1250" b="1">
                <a:solidFill>
                  <a:srgbClr val="EF4444"/>
                </a:solidFill>
                <a:latin typeface="Segoe UI"/>
              </a:defRPr>
            </a:pPr>
            <a:r>
              <a:t>PHASE 3 &amp; 7 • RISK</a:t>
            </a:r>
          </a:p>
        </p:txBody>
      </p:sp>
      <p:sp>
        <p:nvSpPr>
          <p:cNvPr id="22" name="TextBox 21"/>
          <p:cNvSpPr txBox="1"/>
          <p:nvPr/>
        </p:nvSpPr>
        <p:spPr>
          <a:xfrm>
            <a:off x="3566160" y="3822191"/>
            <a:ext cx="2340864" cy="713232"/>
          </a:xfrm>
          <a:prstGeom prst="rect">
            <a:avLst/>
          </a:prstGeom>
          <a:noFill/>
        </p:spPr>
        <p:txBody>
          <a:bodyPr wrap="square" lIns="45720" rIns="45720" tIns="27432" bIns="27432">
            <a:spAutoFit/>
          </a:bodyPr>
          <a:lstStyle/>
          <a:p>
            <a:pPr algn="ctr">
              <a:defRPr sz="1019" b="0">
                <a:solidFill>
                  <a:srgbClr val="F8FAFC"/>
                </a:solidFill>
                <a:latin typeface="Segoe UI"/>
              </a:defRPr>
            </a:pPr>
            <a:r>
              <a:t>Asset CMDB + 5×5 Matrix</a:t>
            </a:r>
            <a:br/>
            <a:r>
              <a:t>4 Treatment Strategies</a:t>
            </a:r>
          </a:p>
        </p:txBody>
      </p:sp>
      <p:sp>
        <p:nvSpPr>
          <p:cNvPr id="23" name="Rounded Rectangle 22"/>
          <p:cNvSpPr/>
          <p:nvPr/>
        </p:nvSpPr>
        <p:spPr>
          <a:xfrm>
            <a:off x="6163056" y="3364992"/>
            <a:ext cx="2487168" cy="1298448"/>
          </a:xfrm>
          <a:prstGeom prst="roundRect">
            <a:avLst>
              <a:gd name="adj" fmla="val 4000"/>
            </a:avLst>
          </a:prstGeom>
          <a:solidFill>
            <a:srgbClr val="1E293B"/>
          </a:solidFill>
          <a:ln w="222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36208" y="3456432"/>
            <a:ext cx="2340864" cy="320040"/>
          </a:xfrm>
          <a:prstGeom prst="rect">
            <a:avLst/>
          </a:prstGeom>
          <a:noFill/>
        </p:spPr>
        <p:txBody>
          <a:bodyPr wrap="square" lIns="45720" rIns="45720" tIns="27432" bIns="27432">
            <a:spAutoFit/>
          </a:bodyPr>
          <a:lstStyle/>
          <a:p>
            <a:pPr algn="ctr">
              <a:defRPr sz="1250" b="1">
                <a:solidFill>
                  <a:srgbClr val="F59E0B"/>
                </a:solidFill>
                <a:latin typeface="Segoe UI"/>
              </a:defRPr>
            </a:pPr>
            <a:r>
              <a:t>PHASE 4–5 • AUDIT</a:t>
            </a:r>
          </a:p>
        </p:txBody>
      </p:sp>
      <p:sp>
        <p:nvSpPr>
          <p:cNvPr id="25" name="TextBox 24"/>
          <p:cNvSpPr txBox="1"/>
          <p:nvPr/>
        </p:nvSpPr>
        <p:spPr>
          <a:xfrm>
            <a:off x="6236208" y="3822191"/>
            <a:ext cx="2340864" cy="713232"/>
          </a:xfrm>
          <a:prstGeom prst="rect">
            <a:avLst/>
          </a:prstGeom>
          <a:noFill/>
        </p:spPr>
        <p:txBody>
          <a:bodyPr wrap="square" lIns="45720" rIns="45720" tIns="27432" bIns="27432">
            <a:spAutoFit/>
          </a:bodyPr>
          <a:lstStyle/>
          <a:p>
            <a:pPr algn="ctr">
              <a:defRPr sz="1019" b="0">
                <a:solidFill>
                  <a:srgbClr val="F8FAFC"/>
                </a:solidFill>
                <a:latin typeface="Segoe UI"/>
              </a:defRPr>
            </a:pPr>
            <a:r>
              <a:t>Auto-SoA + Version Diff</a:t>
            </a:r>
            <a:br/>
            <a:r>
              <a:t>Document DMS &amp; Mapping</a:t>
            </a:r>
          </a:p>
        </p:txBody>
      </p:sp>
      <p:sp>
        <p:nvSpPr>
          <p:cNvPr id="26" name="Rounded Rectangle 25"/>
          <p:cNvSpPr/>
          <p:nvPr/>
        </p:nvSpPr>
        <p:spPr>
          <a:xfrm>
            <a:off x="8833104" y="3364992"/>
            <a:ext cx="2487168" cy="1298448"/>
          </a:xfrm>
          <a:prstGeom prst="roundRect">
            <a:avLst>
              <a:gd name="adj" fmla="val 4000"/>
            </a:avLst>
          </a:prstGeom>
          <a:solidFill>
            <a:srgbClr val="1E293B"/>
          </a:solidFill>
          <a:ln w="2222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06256" y="3456432"/>
            <a:ext cx="2340864" cy="320040"/>
          </a:xfrm>
          <a:prstGeom prst="rect">
            <a:avLst/>
          </a:prstGeom>
          <a:noFill/>
        </p:spPr>
        <p:txBody>
          <a:bodyPr wrap="square" lIns="45720" rIns="45720" tIns="27432" bIns="27432">
            <a:spAutoFit/>
          </a:bodyPr>
          <a:lstStyle/>
          <a:p>
            <a:pPr algn="ctr">
              <a:defRPr sz="1250" b="1">
                <a:solidFill>
                  <a:srgbClr val="10B981"/>
                </a:solidFill>
                <a:latin typeface="Segoe UI"/>
              </a:defRPr>
            </a:pPr>
            <a:r>
              <a:t>PHASE 6 &amp; 8 • LIVE</a:t>
            </a:r>
          </a:p>
        </p:txBody>
      </p:sp>
      <p:sp>
        <p:nvSpPr>
          <p:cNvPr id="28" name="TextBox 27"/>
          <p:cNvSpPr txBox="1"/>
          <p:nvPr/>
        </p:nvSpPr>
        <p:spPr>
          <a:xfrm>
            <a:off x="8906256" y="3822191"/>
            <a:ext cx="2340864" cy="713232"/>
          </a:xfrm>
          <a:prstGeom prst="rect">
            <a:avLst/>
          </a:prstGeom>
          <a:noFill/>
        </p:spPr>
        <p:txBody>
          <a:bodyPr wrap="square" lIns="45720" rIns="45720" tIns="27432" bIns="27432">
            <a:spAutoFit/>
          </a:bodyPr>
          <a:lstStyle/>
          <a:p>
            <a:pPr algn="ctr">
              <a:defRPr sz="1019" b="0">
                <a:solidFill>
                  <a:srgbClr val="F8FAFC"/>
                </a:solidFill>
                <a:latin typeface="Segoe UI"/>
              </a:defRPr>
            </a:pPr>
            <a:r>
              <a:t>6 Strategy Reports + Charts</a:t>
            </a:r>
            <a:br/>
            <a:r>
              <a:t>71 Tests + Vanta UI Live</a:t>
            </a:r>
          </a:p>
        </p:txBody>
      </p:sp>
      <p:sp>
        <p:nvSpPr>
          <p:cNvPr id="29" name="Rounded Rectangle 28"/>
          <p:cNvSpPr/>
          <p:nvPr/>
        </p:nvSpPr>
        <p:spPr>
          <a:xfrm>
            <a:off x="822960" y="4809744"/>
            <a:ext cx="10561320" cy="1170432"/>
          </a:xfrm>
          <a:prstGeom prst="roundRect">
            <a:avLst>
              <a:gd name="adj" fmla="val 4000"/>
            </a:avLst>
          </a:prstGeom>
          <a:solidFill>
            <a:srgbClr val="1E293B"/>
          </a:solidFill>
          <a:ln w="222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919472"/>
            <a:ext cx="10287000" cy="960120"/>
          </a:xfrm>
          <a:prstGeom prst="rect">
            <a:avLst/>
          </a:prstGeom>
          <a:noFill/>
        </p:spPr>
        <p:txBody>
          <a:bodyPr wrap="square" lIns="45720" rIns="45720" tIns="27432" bIns="27432">
            <a:spAutoFit/>
          </a:bodyPr>
          <a:lstStyle/>
          <a:p>
            <a:pPr algn="ctr">
              <a:defRPr sz="1120" b="1">
                <a:solidFill>
                  <a:srgbClr val="8B95F6"/>
                </a:solidFill>
                <a:latin typeface="Segoe UI"/>
              </a:defRPr>
            </a:pPr>
            <a:r>
              <a:t>✔ Phase 1 to Phase 8 Reports Complete     |     ✔ 71/71 PHPUnit Tests (169 Assertions)     |     ✔ Live HTTPS Production Deployment</a:t>
            </a:r>
            <a:br/>
            <a:r>
              <a:t>Student: Kaswan Sangeeta Bhimsingh (Roll No: 17)   •   Guide: Prof. Harsh Barot   •   Silver Oak College of Computer Application</a:t>
            </a:r>
            <a:br/>
            <a:r>
              <a:t>Department of Computer Applications</a:t>
            </a:r>
          </a:p>
        </p:txBody>
      </p:sp>
      <p:sp>
        <p:nvSpPr>
          <p:cNvPr id="31" name="Rectangle 30"/>
          <p:cNvSpPr/>
          <p:nvPr/>
        </p:nvSpPr>
        <p:spPr>
          <a:xfrm>
            <a:off x="502920" y="6437376"/>
            <a:ext cx="11185855" cy="18288"/>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483096"/>
            <a:ext cx="9601200" cy="256032"/>
          </a:xfrm>
          <a:prstGeom prst="rect">
            <a:avLst/>
          </a:prstGeom>
          <a:noFill/>
        </p:spPr>
        <p:txBody>
          <a:bodyPr wrap="square" lIns="45720" rIns="45720" tIns="27432" bIns="27432">
            <a:spAutoFit/>
          </a:bodyPr>
          <a:lstStyle/>
          <a:p>
            <a:pPr algn="l">
              <a:defRPr sz="900" b="0">
                <a:solidFill>
                  <a:srgbClr val="6B7280"/>
                </a:solidFill>
                <a:latin typeface="Segoe UI"/>
              </a:defRPr>
            </a:pPr>
            <a:r>
              <a:t>Student: Kaswan Sangeeta Bhimsingh (Roll No: 17)  |  Guide: Prof. Harsh Barot  |  Silver Oak College of Computer Application  |  Laravel 11 SaaS</a:t>
            </a:r>
          </a:p>
        </p:txBody>
      </p:sp>
      <p:sp>
        <p:nvSpPr>
          <p:cNvPr id="33" name="TextBox 32"/>
          <p:cNvSpPr txBox="1"/>
          <p:nvPr/>
        </p:nvSpPr>
        <p:spPr>
          <a:xfrm>
            <a:off x="10149840" y="6483096"/>
            <a:ext cx="1536192" cy="256032"/>
          </a:xfrm>
          <a:prstGeom prst="rect">
            <a:avLst/>
          </a:prstGeom>
          <a:noFill/>
        </p:spPr>
        <p:txBody>
          <a:bodyPr wrap="square" lIns="45720" rIns="45720" tIns="27432" bIns="27432">
            <a:spAutoFit/>
          </a:bodyPr>
          <a:lstStyle/>
          <a:p>
            <a:pPr algn="r">
              <a:defRPr sz="950" b="1">
                <a:solidFill>
                  <a:srgbClr val="8B95F6"/>
                </a:solidFill>
                <a:latin typeface="Segoe UI"/>
              </a:defRPr>
            </a:pPr>
            <a:r>
              <a:t>Slide 16 / 16</a:t>
            </a:r>
          </a:p>
        </p:txBody>
      </p:sp>
    </p:spTree>
  </p:cSld>
  <p:clrMapOvr>
    <a:masterClrMapping/>
  </p:clrMapOvr>
  <p:transition spd="med" advClick="1">
    <p:extLst>
      <p:ext uri="{D9489498-53F2-484D-A90E-23E2B614D64A}">
        <p159:morph xmlns:p159="http://schemas.microsoft.com/office/powerpoint/2015/09/main" option="byObject"/>
      </p:ext>
    </p:extLs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